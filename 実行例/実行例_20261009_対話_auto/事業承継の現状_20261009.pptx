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同族承継</c:v>
                </c:pt>
              </c:strCache>
            </c:strRef>
          </c:tx>
          <c:spPr>
            <a:ln w="34925">
              <a:solidFill>
                <a:srgbClr val="14213D"/>
              </a:solidFill>
            </a:ln>
          </c:spPr>
          <c:marker>
            <c:size val="7"/>
            <c:spPr>
              <a:solidFill>
                <a:srgbClr val="14213D"/>
              </a:solidFill>
              <a:ln>
                <a:solidFill>
                  <a:srgbClr val="14213D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1600" b="1">
                        <a:solidFill>
                          <a:srgbClr val="14213D"/>
                        </a:solidFill>
                        <a:latin typeface="Yu Gothic"/>
                        <a:ea typeface="Yu Gothic"/>
                        <a:cs typeface="Yu Gothic"/>
                      </a:rPr>
                      <a:t>38.7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1600" b="1">
                        <a:solidFill>
                          <a:srgbClr val="14213D"/>
                        </a:solidFill>
                        <a:latin typeface="Yu Gothic"/>
                        <a:ea typeface="Yu Gothic"/>
                        <a:cs typeface="Yu Gothic"/>
                      </a:rPr>
                      <a:t>32.3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
(速報)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38.7</c:v>
                </c:pt>
                <c:pt idx="1">
                  <c:v>37.6</c:v>
                </c:pt>
                <c:pt idx="2">
                  <c:v>36.0</c:v>
                </c:pt>
                <c:pt idx="3">
                  <c:v>35.7</c:v>
                </c:pt>
                <c:pt idx="4">
                  <c:v>32.3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内部昇格</c:v>
                </c:pt>
              </c:strCache>
            </c:strRef>
          </c:tx>
          <c:spPr>
            <a:ln w="34925">
              <a:solidFill>
                <a:srgbClr val="D95F0E"/>
              </a:solidFill>
            </a:ln>
          </c:spPr>
          <c:marker>
            <c:size val="7"/>
            <c:spPr>
              <a:solidFill>
                <a:srgbClr val="D95F0E"/>
              </a:solidFill>
              <a:ln>
                <a:solidFill>
                  <a:srgbClr val="D95F0E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1600" b="1">
                        <a:solidFill>
                          <a:srgbClr val="D95F0E"/>
                        </a:solidFill>
                        <a:latin typeface="Yu Gothic"/>
                        <a:ea typeface="Yu Gothic"/>
                        <a:cs typeface="Yu Gothic"/>
                      </a:rPr>
                      <a:t>31.4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1600" b="1">
                        <a:solidFill>
                          <a:srgbClr val="D95F0E"/>
                        </a:solidFill>
                        <a:latin typeface="Yu Gothic"/>
                        <a:ea typeface="Yu Gothic"/>
                        <a:cs typeface="Yu Gothic"/>
                      </a:rPr>
                      <a:t>36.1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
(速報)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31.4</c:v>
                </c:pt>
                <c:pt idx="1">
                  <c:v>33.3</c:v>
                </c:pt>
                <c:pt idx="2">
                  <c:v>34.4</c:v>
                </c:pt>
                <c:pt idx="3">
                  <c:v>35.0</c:v>
                </c:pt>
                <c:pt idx="4">
                  <c:v>36.1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14213D"/>
            </a:solidFill>
          </a:ln>
        </c:spPr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2.0"/>
          <c:min val="28.0"/>
        </c:scaling>
        <c:delete/>
        <c:axPos val="l"/>
        <c:majorTickMark val="out"/>
        <c:minorTickMark val="none"/>
        <c:tickLblPos val="nextTo"/>
        <c:crossAx val="2118791784"/>
        <c:crosses val="autoZero"/>
        <c:majorUnit val="2.0"/>
      </c:valAx>
    </c:plotArea>
    <c:legend>
      <c:legendPos val="b"/>
      <c:layout/>
      <c:overlay val="0"/>
      <c:txPr>
        <a:bodyPr/>
        <a:lstStyle/>
        <a:p>
          <a:pPr>
            <a:defRPr sz="1600"/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solidFill>
            <a:srgbClr val="14213D"/>
          </a:solidFill>
          <a:latin typeface="Yu Gothic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286000"/>
            <a:ext cx="128016" cy="1737360"/>
          </a:xfrm>
          <a:prstGeom prst="rect">
            <a:avLst/>
          </a:prstGeom>
          <a:solidFill>
            <a:srgbClr val="D95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2240280"/>
            <a:ext cx="100584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480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日本の中小企業の
事業承継の現状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434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作成日: 2026 年 10 月 9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1051560"/>
          </a:xfrm>
          <a:prstGeom prst="rect">
            <a:avLst/>
          </a:prstGeom>
          <a:solidFill>
            <a:srgbClr val="D95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7899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80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後継者不在は改善しているが半数に残り、承継の形は親族の外へ移っている。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10607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2600"/>
              </a:spcAft>
            </a:pPr>
            <a:r>
              <a:rPr sz="2200" b="1">
                <a:solidFill>
                  <a:srgbClr val="D95F0E"/>
                </a:solidFill>
                <a:latin typeface="Yu Gothic"/>
                <a:ea typeface="Yu Gothic"/>
                <a:cs typeface="Yu Gothic"/>
              </a:rPr>
              <a:t>1  </a:t>
            </a:r>
            <a:r>
              <a:rPr sz="22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中小企業の後継者不在率は 51.2％で、低下傾向にあるものの、半数はまだ後継者が決まっていない。</a:t>
            </a:r>
          </a:p>
          <a:p>
            <a:pPr>
              <a:lnSpc>
                <a:spcPct val="120000"/>
              </a:lnSpc>
              <a:spcAft>
                <a:spcPts val="2600"/>
              </a:spcAft>
            </a:pPr>
            <a:r>
              <a:rPr sz="2200" b="1">
                <a:solidFill>
                  <a:srgbClr val="D95F0E"/>
                </a:solidFill>
                <a:latin typeface="Yu Gothic"/>
                <a:ea typeface="Yu Gothic"/>
                <a:cs typeface="Yu Gothic"/>
              </a:rPr>
              <a:t>2  </a:t>
            </a:r>
            <a:r>
              <a:rPr sz="22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2025 年に代表者が交代した企業では、内部昇格(36.1％)が同族承継(32.3％)を速報値で上回った。</a:t>
            </a:r>
          </a:p>
          <a:p>
            <a:pPr>
              <a:lnSpc>
                <a:spcPct val="120000"/>
              </a:lnSpc>
              <a:spcAft>
                <a:spcPts val="2600"/>
              </a:spcAft>
            </a:pPr>
            <a:r>
              <a:rPr sz="2200" b="1">
                <a:solidFill>
                  <a:srgbClr val="D95F0E"/>
                </a:solidFill>
                <a:latin typeface="Yu Gothic"/>
                <a:ea typeface="Yu Gothic"/>
                <a:cs typeface="Yu Gothic"/>
              </a:rPr>
              <a:t>3  </a:t>
            </a:r>
            <a:r>
              <a:rPr sz="22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休廃業・解散は年 6 万 7949 件で直前期黒字が 49.1％を占め、事業承継税制の特例措置は令和 9 年 12 月 31 日に期限を迎える。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1051560"/>
          </a:xfrm>
          <a:prstGeom prst="rect">
            <a:avLst/>
          </a:prstGeom>
          <a:solidFill>
            <a:srgbClr val="D95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7899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80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社長の過半数が 60 歳以上で、中小企業の半数は後継者が決まっていない。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66751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800" b="1">
                <a:solidFill>
                  <a:srgbClr val="D95F0E"/>
                </a:solidFill>
                <a:latin typeface="Yu Gothic"/>
                <a:ea typeface="Yu Gothic"/>
                <a:cs typeface="Yu Gothic"/>
              </a:rPr>
              <a:t>■ </a:t>
            </a:r>
            <a:r>
              <a:rPr sz="18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中小企業の後継者不在率は 2025 年に 51.2％、小規模企業では 57.3％である。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800" b="1">
                <a:solidFill>
                  <a:srgbClr val="D95F0E"/>
                </a:solidFill>
                <a:latin typeface="Yu Gothic"/>
                <a:ea typeface="Yu Gothic"/>
                <a:cs typeface="Yu Gothic"/>
              </a:rPr>
              <a:t>■ </a:t>
            </a:r>
            <a:r>
              <a:rPr sz="18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全国の後継者不在率は、帝国データバンクでは 50.1％で 7 年連続の低下、東京商工リサーチでは 62.60％で 2019 年から毎年上昇と、調査によって傾向が分かれる。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800" b="1">
                <a:solidFill>
                  <a:srgbClr val="D95F0E"/>
                </a:solidFill>
                <a:latin typeface="Yu Gothic"/>
                <a:ea typeface="Yu Gothic"/>
                <a:cs typeface="Yu Gothic"/>
              </a:rPr>
              <a:t>■ </a:t>
            </a:r>
            <a:r>
              <a:rPr sz="18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社長の平均年齢は 60.8 歳で 35 年連続の上昇となり、60 歳以上が 52.6％を占める(全規模)。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001000" y="2057400"/>
            <a:ext cx="3639312" cy="2743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2240280"/>
            <a:ext cx="363931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4000" b="1">
                <a:solidFill>
                  <a:srgbClr val="D95F0E"/>
                </a:solidFill>
                <a:latin typeface="Yu Gothic"/>
                <a:ea typeface="Yu Gothic"/>
                <a:cs typeface="Yu Gothic"/>
              </a:rPr>
              <a:t>51.2％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3108960"/>
            <a:ext cx="36393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中小企業の後継者不在率
(2025 年、帝国データバンク)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4069080"/>
            <a:ext cx="3639312" cy="2743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4251960"/>
            <a:ext cx="363931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4000" b="1">
                <a:solidFill>
                  <a:srgbClr val="D95F0E"/>
                </a:solidFill>
                <a:latin typeface="Yu Gothic"/>
                <a:ea typeface="Yu Gothic"/>
                <a:cs typeface="Yu Gothic"/>
              </a:rPr>
              <a:t>60.8 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5120640"/>
            <a:ext cx="36393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社長の平均年齢
(2025 年、全規模、帝国データバンク)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6263640"/>
            <a:ext cx="8348472" cy="3657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/>
            <a:r>
              <a:rPr sz="12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出所: 帝国データバンク(2025 年、2026 年)、東京商工リサーチ(2025 年)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1051560"/>
          </a:xfrm>
          <a:prstGeom prst="rect">
            <a:avLst/>
          </a:prstGeom>
          <a:solidFill>
            <a:srgbClr val="D95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7899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80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同族承継が減り、2025 年は内部昇格が最も多い承継の形になった。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6035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800" b="1">
                <a:solidFill>
                  <a:srgbClr val="D95F0E"/>
                </a:solidFill>
                <a:latin typeface="Yu Gothic"/>
                <a:ea typeface="Yu Gothic"/>
                <a:cs typeface="Yu Gothic"/>
              </a:rPr>
              <a:t>■ </a:t>
            </a:r>
            <a:r>
              <a:rPr sz="18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2025 年に代表者が交代した企業では、内部昇格が 36.1％、同族承継が 32.3％、M&amp;A ほかが 20.6％だった(速報値、全規模)。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800" b="1">
                <a:solidFill>
                  <a:srgbClr val="D95F0E"/>
                </a:solidFill>
                <a:latin typeface="Yu Gothic"/>
                <a:ea typeface="Yu Gothic"/>
                <a:cs typeface="Yu Gothic"/>
              </a:rPr>
              <a:t>■ </a:t>
            </a:r>
            <a:r>
              <a:rPr sz="18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同族承継は 2021 年の 38.7％から 32.3％へ下がり、内部昇格は 31.4％から 36.1％へ上がった。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800" b="1">
                <a:solidFill>
                  <a:srgbClr val="D95F0E"/>
                </a:solidFill>
                <a:latin typeface="Yu Gothic"/>
                <a:ea typeface="Yu Gothic"/>
                <a:cs typeface="Yu Gothic"/>
              </a:rPr>
              <a:t>■ </a:t>
            </a:r>
            <a:r>
              <a:rPr sz="18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登録 M&amp;A 支援機関から報告された中小 M&amp;A は、2022 年度の 4,036 件から 2024 年度の 4,940 件へ増えた(譲渡側)。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011680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新任社長の就任経緯の構成比(％)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178040" y="2377440"/>
          <a:ext cx="452628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91840" y="6263640"/>
            <a:ext cx="8348472" cy="3657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/>
            <a:r>
              <a:rPr sz="12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出所: 帝国データバンク(2025 年)、中小企業庁 M&amp;A 支援機関登録制度(公開日の記載なし)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1051560"/>
          </a:xfrm>
          <a:prstGeom prst="rect">
            <a:avLst/>
          </a:prstGeom>
          <a:solidFill>
            <a:srgbClr val="D95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7899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80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休廃業・解散は年 6 万 7 千件を超え、その約半数は直前期が黒字である。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66751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800" b="1">
                <a:solidFill>
                  <a:srgbClr val="D95F0E"/>
                </a:solidFill>
                <a:latin typeface="Yu Gothic"/>
                <a:ea typeface="Yu Gothic"/>
                <a:cs typeface="Yu Gothic"/>
              </a:rPr>
              <a:t>■ </a:t>
            </a:r>
            <a:r>
              <a:rPr sz="18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2025 年の休廃業・解散は 6 万 7949 件で、過去 10 年では 2024 年に次いで 2 番目に多い。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800" b="1">
                <a:solidFill>
                  <a:srgbClr val="D95F0E"/>
                </a:solidFill>
                <a:latin typeface="Yu Gothic"/>
                <a:ea typeface="Yu Gothic"/>
                <a:cs typeface="Yu Gothic"/>
              </a:rPr>
              <a:t>■ </a:t>
            </a:r>
            <a:r>
              <a:rPr sz="18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休廃業した企業のうち直前期が黒字だった割合は 49.1％で、2016 年以降で初めて 50％を下回った。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800" b="1">
                <a:solidFill>
                  <a:srgbClr val="D95F0E"/>
                </a:solidFill>
                <a:latin typeface="Yu Gothic"/>
                <a:ea typeface="Yu Gothic"/>
                <a:cs typeface="Yu Gothic"/>
              </a:rPr>
              <a:t>■ </a:t>
            </a:r>
            <a:r>
              <a:rPr sz="18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後継者難倒産は 2025 年に 503 件で、3 年連続で 500 件を超えた。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001000" y="2057400"/>
            <a:ext cx="3639312" cy="2743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2240280"/>
            <a:ext cx="363931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4000" b="1">
                <a:solidFill>
                  <a:srgbClr val="D95F0E"/>
                </a:solidFill>
                <a:latin typeface="Yu Gothic"/>
                <a:ea typeface="Yu Gothic"/>
                <a:cs typeface="Yu Gothic"/>
              </a:rPr>
              <a:t>6 万 7949 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3108960"/>
            <a:ext cx="36393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休廃業・解散の件数
(2025 年、理由を問わない合計)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4069080"/>
            <a:ext cx="3639312" cy="2743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4251960"/>
            <a:ext cx="363931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4000" b="1">
                <a:solidFill>
                  <a:srgbClr val="D95F0E"/>
                </a:solidFill>
                <a:latin typeface="Yu Gothic"/>
                <a:ea typeface="Yu Gothic"/>
                <a:cs typeface="Yu Gothic"/>
              </a:rPr>
              <a:t>9 万 3272 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5120640"/>
            <a:ext cx="36393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休廃業した企業の正社員数
(2025 年、少なくとも)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6263640"/>
            <a:ext cx="8348472" cy="3657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/>
            <a:r>
              <a:rPr sz="12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出所: 帝国データバンク(2026 年)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1051560"/>
          </a:xfrm>
          <a:prstGeom prst="rect">
            <a:avLst/>
          </a:prstGeom>
          <a:solidFill>
            <a:srgbClr val="D95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7899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80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公的窓口での成約は過去最多だが、事業承継税制の特例措置は令和 9 年末に期限を迎える。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66751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800" b="1">
                <a:solidFill>
                  <a:srgbClr val="D95F0E"/>
                </a:solidFill>
                <a:latin typeface="Yu Gothic"/>
                <a:ea typeface="Yu Gothic"/>
                <a:cs typeface="Yu Gothic"/>
              </a:rPr>
              <a:t>■ </a:t>
            </a:r>
            <a:r>
              <a:rPr sz="18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事業承継・引継ぎ支援センターの令和 7 年度の第三者承継の成約は 2,265 件で過去最多となり、親族内承継の支援完了は 1,903 件だった。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800" b="1">
                <a:solidFill>
                  <a:srgbClr val="D95F0E"/>
                </a:solidFill>
                <a:latin typeface="Yu Gothic"/>
                <a:ea typeface="Yu Gothic"/>
                <a:cs typeface="Yu Gothic"/>
              </a:rPr>
              <a:t>■ </a:t>
            </a:r>
            <a:r>
              <a:rPr sz="18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事業承継税制の特例措置は、特例承継計画の提出が令和 9 年 9 月 30 日まで、適用が令和 9 年 12 月 31 日までである。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800" b="1">
                <a:solidFill>
                  <a:srgbClr val="D95F0E"/>
                </a:solidFill>
                <a:latin typeface="Yu Gothic"/>
                <a:ea typeface="Yu Gothic"/>
                <a:cs typeface="Yu Gothic"/>
              </a:rPr>
              <a:t>■ </a:t>
            </a:r>
            <a:r>
              <a:rPr sz="18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特例承継計画の申請は、令和 5 年度の 5,531 件から令和 6 年度は 1,671 件に減った。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001000" y="2057400"/>
            <a:ext cx="3639312" cy="2743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2240280"/>
            <a:ext cx="363931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4000" b="1">
                <a:solidFill>
                  <a:srgbClr val="D95F0E"/>
                </a:solidFill>
                <a:latin typeface="Yu Gothic"/>
                <a:ea typeface="Yu Gothic"/>
                <a:cs typeface="Yu Gothic"/>
              </a:rPr>
              <a:t>2,265 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3108960"/>
            <a:ext cx="36393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第三者承継の成約件数
(令和 7 年度、支援センター)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4069080"/>
            <a:ext cx="3639312" cy="2743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4251960"/>
            <a:ext cx="363931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4000" b="1">
                <a:solidFill>
                  <a:srgbClr val="D95F0E"/>
                </a:solidFill>
                <a:latin typeface="Yu Gothic"/>
                <a:ea typeface="Yu Gothic"/>
                <a:cs typeface="Yu Gothic"/>
              </a:rPr>
              <a:t>令和 9 年末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5120640"/>
            <a:ext cx="36393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事業承継税制 特例措置の適用期限
(令和 9 年 12 月 31 日)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6263640"/>
            <a:ext cx="8348472" cy="3657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/>
            <a:r>
              <a:rPr sz="12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出所: 中小企業基盤整備機構(2026 年)、国税庁(2026 年)、中小企業庁 税制改正要望(公開日の記載なし)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1051560"/>
          </a:xfrm>
          <a:prstGeom prst="rect">
            <a:avLst/>
          </a:prstGeom>
          <a:solidFill>
            <a:srgbClr val="D95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7899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80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小規模企業と高齢の経営者に後継者不在が残り、期限のある支援策を早く使う必要がある。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10607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2600"/>
              </a:spcAft>
            </a:pPr>
            <a:r>
              <a:rPr sz="2200" b="1">
                <a:solidFill>
                  <a:srgbClr val="D95F0E"/>
                </a:solidFill>
                <a:latin typeface="Yu Gothic"/>
                <a:ea typeface="Yu Gothic"/>
                <a:cs typeface="Yu Gothic"/>
              </a:rPr>
              <a:t>1  </a:t>
            </a:r>
            <a:r>
              <a:rPr sz="22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後継者不在率は下がっているが、小規模企業では 57.3％と高く、80 代以上の社長でも 22.2％が後継者を決めていない。</a:t>
            </a:r>
          </a:p>
          <a:p>
            <a:pPr>
              <a:lnSpc>
                <a:spcPct val="120000"/>
              </a:lnSpc>
              <a:spcAft>
                <a:spcPts val="2600"/>
              </a:spcAft>
            </a:pPr>
            <a:r>
              <a:rPr sz="2200" b="1">
                <a:solidFill>
                  <a:srgbClr val="D95F0E"/>
                </a:solidFill>
                <a:latin typeface="Yu Gothic"/>
                <a:ea typeface="Yu Gothic"/>
                <a:cs typeface="Yu Gothic"/>
              </a:rPr>
              <a:t>2  </a:t>
            </a:r>
            <a:r>
              <a:rPr sz="22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承継の担い手は親族から役員・社員や第三者へ移っており、親族以外への承継を前提にした準備が必要になる。</a:t>
            </a:r>
          </a:p>
          <a:p>
            <a:pPr>
              <a:lnSpc>
                <a:spcPct val="120000"/>
              </a:lnSpc>
              <a:spcAft>
                <a:spcPts val="2600"/>
              </a:spcAft>
            </a:pPr>
            <a:r>
              <a:rPr sz="2200" b="1">
                <a:solidFill>
                  <a:srgbClr val="D95F0E"/>
                </a:solidFill>
                <a:latin typeface="Yu Gothic"/>
                <a:ea typeface="Yu Gothic"/>
                <a:cs typeface="Yu Gothic"/>
              </a:rPr>
              <a:t>3  </a:t>
            </a:r>
            <a:r>
              <a:rPr sz="22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休廃業の約半数は直前期が黒字で、税制の特例措置は令和 9 年末に期限を迎えるため、計画づくりを早く始めることが有効である。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6263640"/>
            <a:ext cx="8348472" cy="3657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/>
            <a:r>
              <a:rPr sz="12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出所: 帝国データバンク(2025 年、2026 年)、国税庁(2026 年)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640080"/>
          </a:xfrm>
          <a:prstGeom prst="rect">
            <a:avLst/>
          </a:prstGeom>
          <a:solidFill>
            <a:srgbClr val="D95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7899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出典の一覧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1078992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D95F0E"/>
                </a:solidFill>
                <a:latin typeface="Yu Gothic"/>
                <a:ea typeface="Yu Gothic"/>
                <a:cs typeface="Yu Gothic"/>
              </a:rPr>
              <a:t>1  </a:t>
            </a:r>
            <a:r>
              <a:rPr sz="16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帝国データバンク「全国『後継者不在率』動向調査(2025 年)」2025-11-21</a:t>
            </a:r>
            <a:r>
              <a:rPr sz="10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
     https://www.tdb.co.jp/report/economic/20251121-successor25y/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D95F0E"/>
                </a:solidFill>
                <a:latin typeface="Yu Gothic"/>
                <a:ea typeface="Yu Gothic"/>
                <a:cs typeface="Yu Gothic"/>
              </a:rPr>
              <a:t>2  </a:t>
            </a:r>
            <a:r>
              <a:rPr sz="16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帝国データバンク「全国『社長年齢』分析調査(2025 年)」2026-02-16</a:t>
            </a:r>
            <a:r>
              <a:rPr sz="10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
     https://www.tdb.co.jp/report/economic/20260216-presidentage2025/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D95F0E"/>
                </a:solidFill>
                <a:latin typeface="Yu Gothic"/>
                <a:ea typeface="Yu Gothic"/>
                <a:cs typeface="Yu Gothic"/>
              </a:rPr>
              <a:t>3  </a:t>
            </a:r>
            <a:r>
              <a:rPr sz="16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東京商工リサーチ「2025 年『後継者不在率』調査」2025-11-10</a:t>
            </a:r>
            <a:r>
              <a:rPr sz="10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
     https://www.tsr-net.co.jp/data/detail/1201982_1527.html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D95F0E"/>
                </a:solidFill>
                <a:latin typeface="Yu Gothic"/>
                <a:ea typeface="Yu Gothic"/>
                <a:cs typeface="Yu Gothic"/>
              </a:rPr>
              <a:t>4  </a:t>
            </a:r>
            <a:r>
              <a:rPr sz="16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帝国データバンク「全国企業『休廃業・解散』動向調査(2025 年)」2026-01-09</a:t>
            </a:r>
            <a:r>
              <a:rPr sz="10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
     https://www.tdb.co.jp/report/industry/20260109-kyuhaigyo25y/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D95F0E"/>
                </a:solidFill>
                <a:latin typeface="Yu Gothic"/>
                <a:ea typeface="Yu Gothic"/>
                <a:cs typeface="Yu Gothic"/>
              </a:rPr>
              <a:t>5  </a:t>
            </a:r>
            <a:r>
              <a:rPr sz="16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帝国データバンク「倒産集計 2025 年報(1 月〜12 月)」2026-01-13</a:t>
            </a:r>
            <a:r>
              <a:rPr sz="10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
     https://www.tdb.co.jp/report/bankruptcy/aggregation/20260113-bankruptcy2025/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D95F0E"/>
                </a:solidFill>
                <a:latin typeface="Yu Gothic"/>
                <a:ea typeface="Yu Gothic"/>
                <a:cs typeface="Yu Gothic"/>
              </a:rPr>
              <a:t>6  </a:t>
            </a:r>
            <a:r>
              <a:rPr sz="16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中小企業庁 M&amp;A 支援機関登録制度 事務局サイト(報告された M&amp;A 件数)公開日の記載なし</a:t>
            </a:r>
            <a:r>
              <a:rPr sz="10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
     https://ma-shienkikan.go.jp/statistics-report?reportType=ma-count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D95F0E"/>
                </a:solidFill>
                <a:latin typeface="Yu Gothic"/>
                <a:ea typeface="Yu Gothic"/>
                <a:cs typeface="Yu Gothic"/>
              </a:rPr>
              <a:t>7  </a:t>
            </a:r>
            <a:r>
              <a:rPr sz="16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中小企業基盤整備機構「令和 7 年度 事業承継・引継ぎ支援センターの実績について」2026-05-29</a:t>
            </a:r>
            <a:r>
              <a:rPr sz="10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
     https://www.smrj.go.jp/press/2026/hkj3i8000000cu5o-att/20260529_press01.pdf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D95F0E"/>
                </a:solidFill>
                <a:latin typeface="Yu Gothic"/>
                <a:ea typeface="Yu Gothic"/>
                <a:cs typeface="Yu Gothic"/>
              </a:rPr>
              <a:t>8  </a:t>
            </a:r>
            <a:r>
              <a:rPr sz="16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国税庁 タックスアンサー No.4148(令和 8 年 4 月 1 日現在法令等)</a:t>
            </a:r>
            <a:r>
              <a:rPr sz="10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
     https://www.nta.go.jp/taxes/shiraberu/taxanswer/sozoku/4148.htm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D95F0E"/>
                </a:solidFill>
                <a:latin typeface="Yu Gothic"/>
                <a:ea typeface="Yu Gothic"/>
                <a:cs typeface="Yu Gothic"/>
              </a:rPr>
              <a:t>9  </a:t>
            </a:r>
            <a:r>
              <a:rPr sz="16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中小企業庁「令和 8 年度税制改正要望事項」(財務省サイト掲載)公開日の記載なし</a:t>
            </a:r>
            <a:r>
              <a:rPr sz="1000" b="0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
     https://www.mof.go.jp/tax_policy/tax_reform/outline/fy2026/request/meti/08y_meti_k_29.pdf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