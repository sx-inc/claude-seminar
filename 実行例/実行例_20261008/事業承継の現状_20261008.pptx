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1.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charts/chart2.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charts/chart3.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表紙と要約" id="{3d5546c4-ae14-c2bb-08d0-bcb9e824bfb6}">
          <p14:sldIdLst>
            <p14:sldId id="256"/>
            <p14:sldId id="257"/>
          </p14:sldIdLst>
        </p14:section>
        <p14:section name="調査結果" id="{baf12357-ba08-cd11-9d7a-7a0a9ba4e351}">
          <p14:sldIdLst>
            <p14:sldId id="258"/>
            <p14:sldId id="259"/>
            <p14:sldId id="260"/>
            <p14:sldId id="261"/>
          </p14:sldIdLst>
        </p14:section>
        <p14:section name="まとめと出典" id="{ac002197-c7cb-1253-3973-c601fb135eb7}">
          <p14:sldIdLst>
            <p14:sldId id="262"/>
            <p14:sldId id="26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600" b="0" i="0" u="none" strike="noStrike">
                <a:solidFill>
                  <a:srgbClr val="1B2A4A"/>
                </a:solidFill>
                <a:latin typeface="Yu Gothic"/>
              </a:defRPr>
            </a:pPr>
            <a:r>
              <a:rPr sz="1600" b="0" i="0" u="none" strike="noStrike">
                <a:solidFill>
                  <a:srgbClr val="1B2A4A"/>
                </a:solidFill>
                <a:latin typeface="Yu Gothic"/>
              </a:rPr>
              <a:t>新任社長の就任経緯(%)</a:t>
            </a:r>
          </a:p>
        </c:rich>
      </c:tx>
      <c:layout/>
      <c:overlay val="0"/>
    </c:title>
    <c:autoTitleDeleted val="0"/>
    <c:plotArea>
      <c:layout/>
      <c:barChart>
        <c:barDir val="col"/>
        <c:grouping val="clustered"/>
        <c:varyColors val="0"/>
        <c:ser>
          <c:idx val="0"/>
          <c:order val="0"/>
          <c:tx>
            <c:strRef>
              <c:f>Sheet1!$B$1</c:f>
              <c:strCache>
                <c:ptCount val="1"/>
                <c:pt idx="0">
                  <c:v>2024年</c:v>
                </c:pt>
              </c:strCache>
            </c:strRef>
          </c:tx>
          <c:spPr>
            <a:solidFill>
              <a:srgbClr val="1B2A4A"/>
            </a:solidFill>
            <a:effectLst/>
          </c:spPr>
          <c:invertIfNegative val="0"/>
          <c:dLbls>
            <c:numFmt formatCode="0.0" sourceLinked="0"/>
            <c:txPr>
              <a:bodyPr/>
              <a:lstStyle/>
              <a:p>
                <a:pPr>
                  <a:defRPr b="0" i="0" strike="noStrike" sz="1400" u="none">
                    <a:solidFill>
                      <a:srgbClr val="1B2A4A"/>
                    </a:solidFill>
                    <a:latin typeface="Yu Gothic"/>
                  </a:defRPr>
                </a:pPr>
              </a:p>
            </c:txPr>
            <c:showLegendKey val="0"/>
            <c:showVal val="1"/>
            <c:showCatName val="0"/>
            <c:showSerName val="0"/>
            <c:showPercent val="0"/>
            <c:showBubbleSize val="0"/>
            <c:showLeaderLines val="0"/>
          </c:dLbls>
          <c:cat>
            <c:multiLvlStrRef>
              <c:f>Sheet1!$A$2:$A$4</c:f>
              <c:multiLvlStrCache>
                <c:ptCount val="3"/>
                <c:lvl>
                  <c:pt idx="0">
                    <c:v>同族承継</c:v>
                  </c:pt>
                  <c:pt idx="1">
                    <c:v>内部昇格</c:v>
                  </c:pt>
                  <c:pt idx="2">
                    <c:v>M&amp;Aほか</c:v>
                  </c:pt>
                </c:lvl>
              </c:multiLvlStrCache>
            </c:multiLvlStrRef>
          </c:cat>
          <c:val>
            <c:numRef>
              <c:f>Sheet1!$B$2:$B$4</c:f>
              <c:numCache>
                <c:formatCode>General</c:formatCode>
                <c:ptCount val="3"/>
                <c:pt idx="0">
                  <c:v>35.7</c:v>
                </c:pt>
                <c:pt idx="1">
                  <c:v>35</c:v>
                </c:pt>
                <c:pt idx="2">
                  <c:v>19.2</c:v>
                </c:pt>
              </c:numCache>
            </c:numRef>
          </c:val>
        </c:ser>
        <c:ser>
          <c:idx val="1"/>
          <c:order val="1"/>
          <c:tx>
            <c:strRef>
              <c:f>Sheet1!$C$1</c:f>
              <c:strCache>
                <c:ptCount val="1"/>
                <c:pt idx="0">
                  <c:v>2025年(速報値)</c:v>
                </c:pt>
              </c:strCache>
            </c:strRef>
          </c:tx>
          <c:spPr>
            <a:solidFill>
              <a:srgbClr val="C8553D"/>
            </a:solidFill>
            <a:effectLst/>
          </c:spPr>
          <c:invertIfNegative val="0"/>
          <c:dLbls>
            <c:numFmt formatCode="0.0" sourceLinked="0"/>
            <c:txPr>
              <a:bodyPr/>
              <a:lstStyle/>
              <a:p>
                <a:pPr>
                  <a:defRPr b="0" i="0" strike="noStrike" sz="1400" u="none">
                    <a:solidFill>
                      <a:srgbClr val="1B2A4A"/>
                    </a:solidFill>
                    <a:latin typeface="Yu Gothic"/>
                  </a:defRPr>
                </a:pPr>
              </a:p>
            </c:txPr>
            <c:showLegendKey val="0"/>
            <c:showVal val="1"/>
            <c:showCatName val="0"/>
            <c:showSerName val="0"/>
            <c:showPercent val="0"/>
            <c:showBubbleSize val="0"/>
            <c:showLeaderLines val="0"/>
          </c:dLbls>
          <c:cat>
            <c:multiLvlStrRef>
              <c:f>Sheet1!$A$2:$A$4</c:f>
              <c:multiLvlStrCache>
                <c:ptCount val="3"/>
                <c:lvl>
                  <c:pt idx="0">
                    <c:v>同族承継</c:v>
                  </c:pt>
                  <c:pt idx="1">
                    <c:v>内部昇格</c:v>
                  </c:pt>
                  <c:pt idx="2">
                    <c:v>M&amp;Aほか</c:v>
                  </c:pt>
                </c:lvl>
              </c:multiLvlStrCache>
            </c:multiLvlStrRef>
          </c:cat>
          <c:val>
            <c:numRef>
              <c:f>Sheet1!$C$2:$C$4</c:f>
              <c:numCache>
                <c:formatCode>General</c:formatCode>
                <c:ptCount val="3"/>
                <c:pt idx="0">
                  <c:v>32.3</c:v>
                </c:pt>
                <c:pt idx="1">
                  <c:v>36.1</c:v>
                </c:pt>
                <c:pt idx="2">
                  <c:v>20.6</c:v>
                </c:pt>
              </c:numCache>
            </c:numRef>
          </c:val>
        </c:ser>
        <c:dLbls>
          <c:numFmt formatCode="0.0" sourceLinked="0"/>
          <c:txPr>
            <a:bodyPr/>
            <a:lstStyle/>
            <a:p>
              <a:pPr>
                <a:defRPr b="0" i="0" strike="noStrike" sz="1400" u="none">
                  <a:solidFill>
                    <a:srgbClr val="1B2A4A"/>
                  </a:solidFill>
                  <a:latin typeface="Yu Gothic"/>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400" b="0" i="0" u="none" strike="noStrike">
                <a:solidFill>
                  <a:srgbClr val="1B2A4A"/>
                </a:solidFill>
                <a:latin typeface="Yu Gothic"/>
              </a:defRPr>
            </a:pPr>
            <a:endParaRPr lang="en-US"/>
          </a:p>
        </c:txPr>
        <c:crossAx val="2094734552"/>
        <c:crosses val="autoZero"/>
        <c:auto val="1"/>
        <c:lblAlgn val="ctr"/>
        <c:noMultiLvlLbl val="1"/>
      </c:catAx>
      <c:valAx>
        <c:axId val="2094734552"/>
        <c:scaling>
          <c:orientation val="minMax"/>
          <c:max val="40"/>
          <c:min val="0"/>
        </c:scaling>
        <c:delete val="0"/>
        <c:axPos val="l"/>
        <c:majorGridlines>
          <c:spPr>
            <a:ln w="9525" cap="flat">
              <a:solidFill>
                <a:srgbClr val="D5DAE3"/>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1B2A4A"/>
                </a:solidFill>
                <a:latin typeface="Yu Gothic"/>
              </a:defRPr>
            </a:pPr>
            <a:endParaRPr lang="en-US"/>
          </a:p>
        </c:txPr>
        <c:crossAx val="2094734554"/>
        <c:crosses val="autoZero"/>
        <c:crossBetween val="between"/>
        <c:majorUnit val="10"/>
      </c:valAx>
      <c:spPr>
        <a:noFill/>
        <a:ln>
          <a:noFill/>
        </a:ln>
        <a:effectLst/>
      </c:spPr>
    </c:plotArea>
    <c:legend>
      <c:legendPos val="b"/>
      <c:overlay val="0"/>
      <c:txPr>
        <a:bodyPr/>
        <a:lstStyle/>
        <a:p>
          <a:pPr>
            <a:defRPr sz="1400">
              <a:solidFill>
                <a:srgbClr val="1B2A4A"/>
              </a:solidFill>
              <a:latin typeface="Yu Gothic"/>
              <a:cs typeface="Yu Gothic"/>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600" b="0" i="0" u="none" strike="noStrike">
                <a:solidFill>
                  <a:srgbClr val="1B2A4A"/>
                </a:solidFill>
                <a:latin typeface="Yu Gothic"/>
              </a:defRPr>
            </a:pPr>
            <a:r>
              <a:rPr sz="1600" b="0" i="0" u="none" strike="noStrike">
                <a:solidFill>
                  <a:srgbClr val="1B2A4A"/>
                </a:solidFill>
                <a:latin typeface="Yu Gothic"/>
              </a:rPr>
              <a:t>特例承継計画の申請件数(年度、件)</a:t>
            </a:r>
          </a:p>
        </c:rich>
      </c:tx>
      <c:layout/>
      <c:overlay val="0"/>
    </c:title>
    <c:autoTitleDeleted val="0"/>
    <c:plotArea>
      <c:layout/>
      <c:barChart>
        <c:barDir val="col"/>
        <c:grouping val="clustered"/>
        <c:varyColors val="0"/>
        <c:ser>
          <c:idx val="0"/>
          <c:order val="0"/>
          <c:tx>
            <c:strRef>
              <c:f>Sheet1!$B$1</c:f>
              <c:strCache>
                <c:ptCount val="1"/>
                <c:pt idx="0">
                  <c:v>申請件数</c:v>
                </c:pt>
              </c:strCache>
            </c:strRef>
          </c:tx>
          <c:spPr>
            <a:solidFill>
              <a:srgbClr val="1B2A4A"/>
            </a:solidFill>
            <a:effectLst/>
          </c:spPr>
          <c:invertIfNegative val="0"/>
          <c:dLbls>
            <c:numFmt formatCode="#,##0" sourceLinked="0"/>
            <c:txPr>
              <a:bodyPr/>
              <a:lstStyle/>
              <a:p>
                <a:pPr>
                  <a:defRPr b="0" i="0" strike="noStrike" sz="1400" u="none">
                    <a:solidFill>
                      <a:srgbClr val="1B2A4A"/>
                    </a:solidFill>
                    <a:latin typeface="Yu Gothic"/>
                  </a:defRPr>
                </a:pPr>
              </a:p>
            </c:txPr>
            <c:showLegendKey val="0"/>
            <c:showVal val="1"/>
            <c:showCatName val="0"/>
            <c:showSerName val="0"/>
            <c:showPercent val="0"/>
            <c:showBubbleSize val="0"/>
            <c:showLeaderLines val="0"/>
          </c:dLbls>
          <c:cat>
            <c:multiLvlStrRef>
              <c:f>Sheet1!$A$2:$A$8</c:f>
              <c:multiLvlStrCache>
                <c:ptCount val="7"/>
                <c:lvl>
                  <c:pt idx="0">
                    <c:v>2018</c:v>
                  </c:pt>
                  <c:pt idx="1">
                    <c:v>2019</c:v>
                  </c:pt>
                  <c:pt idx="2">
                    <c:v>2020</c:v>
                  </c:pt>
                  <c:pt idx="3">
                    <c:v>2021</c:v>
                  </c:pt>
                  <c:pt idx="4">
                    <c:v>2022</c:v>
                  </c:pt>
                  <c:pt idx="5">
                    <c:v>2023</c:v>
                  </c:pt>
                  <c:pt idx="6">
                    <c:v>2024</c:v>
                  </c:pt>
                </c:lvl>
              </c:multiLvlStrCache>
            </c:multiLvlStrRef>
          </c:cat>
          <c:val>
            <c:numRef>
              <c:f>Sheet1!$B$2:$B$8</c:f>
              <c:numCache>
                <c:formatCode>General</c:formatCode>
                <c:ptCount val="7"/>
                <c:pt idx="0">
                  <c:v>2936</c:v>
                </c:pt>
                <c:pt idx="1">
                  <c:v>3451</c:v>
                </c:pt>
                <c:pt idx="2">
                  <c:v>2808</c:v>
                </c:pt>
                <c:pt idx="3">
                  <c:v>2661</c:v>
                </c:pt>
                <c:pt idx="4">
                  <c:v>2690</c:v>
                </c:pt>
                <c:pt idx="5">
                  <c:v>5531</c:v>
                </c:pt>
                <c:pt idx="6">
                  <c:v>1671</c:v>
                </c:pt>
              </c:numCache>
            </c:numRef>
          </c:val>
        </c:ser>
        <c:dLbls>
          <c:numFmt formatCode="#,##0" sourceLinked="0"/>
          <c:txPr>
            <a:bodyPr/>
            <a:lstStyle/>
            <a:p>
              <a:pPr>
                <a:defRPr b="0" i="0" strike="noStrike" sz="1400" u="none">
                  <a:solidFill>
                    <a:srgbClr val="1B2A4A"/>
                  </a:solidFill>
                  <a:latin typeface="Yu Gothic"/>
                </a:defRPr>
              </a:pPr>
            </a:p>
          </c:txPr>
          <c:showLegendKey val="0"/>
          <c:showVal val="1"/>
          <c:showCatName val="0"/>
          <c:showSerName val="0"/>
          <c:showPercent val="0"/>
          <c:showBubbleSize val="0"/>
          <c:showLeaderLines val="0"/>
        </c:dLbls>
        <c:gapWidth val="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400" b="0" i="0" u="none" strike="noStrike">
                <a:solidFill>
                  <a:srgbClr val="1B2A4A"/>
                </a:solidFill>
                <a:latin typeface="Yu Gothic"/>
              </a:defRPr>
            </a:pPr>
            <a:endParaRPr lang="en-US"/>
          </a:p>
        </c:txPr>
        <c:crossAx val="2094734552"/>
        <c:crosses val="autoZero"/>
        <c:auto val="1"/>
        <c:lblAlgn val="ctr"/>
        <c:noMultiLvlLbl val="1"/>
      </c:catAx>
      <c:valAx>
        <c:axId val="2094734552"/>
        <c:scaling>
          <c:orientation val="minMax"/>
          <c:max val="6000"/>
          <c:min val="0"/>
        </c:scaling>
        <c:delete val="0"/>
        <c:axPos val="l"/>
        <c:majorGridlines>
          <c:spPr>
            <a:ln w="9525" cap="flat">
              <a:solidFill>
                <a:srgbClr val="D5DAE3"/>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1B2A4A"/>
                </a:solidFill>
                <a:latin typeface="Yu Gothic"/>
              </a:defRPr>
            </a:pPr>
            <a:endParaRPr lang="en-US"/>
          </a:p>
        </c:txPr>
        <c:crossAx val="2094734554"/>
        <c:crosses val="autoZero"/>
        <c:crossBetween val="between"/>
        <c:majorUnit val="2000"/>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600" b="0" i="0" u="none" strike="noStrike">
                <a:solidFill>
                  <a:srgbClr val="1B2A4A"/>
                </a:solidFill>
                <a:latin typeface="Yu Gothic"/>
              </a:defRPr>
            </a:pPr>
            <a:r>
              <a:rPr sz="1600" b="0" i="0" u="none" strike="noStrike">
                <a:solidFill>
                  <a:srgbClr val="1B2A4A"/>
                </a:solidFill>
                <a:latin typeface="Yu Gothic"/>
              </a:rPr>
              <a:t>廃業予定企業の廃業理由(%)</a:t>
            </a:r>
          </a:p>
        </c:rich>
      </c:tx>
      <c:layout/>
      <c:overlay val="0"/>
    </c:title>
    <c:autoTitleDeleted val="0"/>
    <c:plotArea>
      <c:layout/>
      <c:barChart>
        <c:barDir val="bar"/>
        <c:grouping val="clustered"/>
        <c:varyColors val="0"/>
        <c:ser>
          <c:idx val="0"/>
          <c:order val="0"/>
          <c:tx>
            <c:strRef>
              <c:f>Sheet1!$B$1</c:f>
              <c:strCache>
                <c:ptCount val="1"/>
                <c:pt idx="0">
                  <c:v>割合</c:v>
                </c:pt>
              </c:strCache>
            </c:strRef>
          </c:tx>
          <c:spPr>
            <a:solidFill>
              <a:srgbClr val="C8553D"/>
            </a:solidFill>
            <a:effectLst/>
          </c:spPr>
          <c:invertIfNegative val="0"/>
          <c:dLbls>
            <c:numFmt formatCode="0.0" sourceLinked="0"/>
            <c:txPr>
              <a:bodyPr/>
              <a:lstStyle/>
              <a:p>
                <a:pPr>
                  <a:defRPr b="0" i="0" strike="noStrike" sz="1400" u="none">
                    <a:solidFill>
                      <a:srgbClr val="1B2A4A"/>
                    </a:solidFill>
                    <a:latin typeface="Yu Gothic"/>
                  </a:defRPr>
                </a:pPr>
              </a:p>
            </c:txPr>
            <c:showLegendKey val="0"/>
            <c:showVal val="1"/>
            <c:showCatName val="0"/>
            <c:showSerName val="0"/>
            <c:showPercent val="0"/>
            <c:showBubbleSize val="0"/>
            <c:showLeaderLines val="0"/>
          </c:dLbls>
          <c:cat>
            <c:multiLvlStrRef>
              <c:f>Sheet1!$A$2:$A$4</c:f>
              <c:multiLvlStrCache>
                <c:ptCount val="3"/>
                <c:lvl>
                  <c:pt idx="0">
                    <c:v>業績不振</c:v>
                  </c:pt>
                  <c:pt idx="1">
                    <c:v>後継者難</c:v>
                  </c:pt>
                  <c:pt idx="2">
                    <c:v>継いでもらいたいと思っていない</c:v>
                  </c:pt>
                </c:lvl>
              </c:multiLvlStrCache>
            </c:multiLvlStrRef>
          </c:cat>
          <c:val>
            <c:numRef>
              <c:f>Sheet1!$B$2:$B$4</c:f>
              <c:numCache>
                <c:formatCode>General</c:formatCode>
                <c:ptCount val="3"/>
                <c:pt idx="0">
                  <c:v>25.3</c:v>
                </c:pt>
                <c:pt idx="1">
                  <c:v>28.4</c:v>
                </c:pt>
                <c:pt idx="2">
                  <c:v>45.2</c:v>
                </c:pt>
              </c:numCache>
            </c:numRef>
          </c:val>
        </c:ser>
        <c:dLbls>
          <c:numFmt formatCode="0.0" sourceLinked="0"/>
          <c:txPr>
            <a:bodyPr/>
            <a:lstStyle/>
            <a:p>
              <a:pPr>
                <a:defRPr b="0" i="0" strike="noStrike" sz="1400" u="none">
                  <a:solidFill>
                    <a:srgbClr val="1B2A4A"/>
                  </a:solidFill>
                  <a:latin typeface="Yu Gothic"/>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400" b="0" i="0" u="none" strike="noStrike">
                <a:solidFill>
                  <a:srgbClr val="1B2A4A"/>
                </a:solidFill>
                <a:latin typeface="Yu Gothic"/>
              </a:defRPr>
            </a:pPr>
            <a:endParaRPr lang="en-US"/>
          </a:p>
        </c:txPr>
        <c:crossAx val="2094734552"/>
        <c:crosses val="autoZero"/>
        <c:auto val="1"/>
        <c:lblAlgn val="ctr"/>
        <c:noMultiLvlLbl val="1"/>
      </c:catAx>
      <c:valAx>
        <c:axId val="2094734552"/>
        <c:scaling>
          <c:orientation val="minMax"/>
          <c:max val="50"/>
          <c:min val="0"/>
        </c:scaling>
        <c:delete val="0"/>
        <c:axPos val="b"/>
        <c:majorGridlines>
          <c:spPr>
            <a:ln w="9525" cap="flat">
              <a:solidFill>
                <a:srgbClr val="D5DAE3"/>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1B2A4A"/>
                </a:solidFill>
                <a:latin typeface="Yu Gothic"/>
              </a:defRPr>
            </a:pPr>
            <a:endParaRPr lang="en-US"/>
          </a:p>
        </c:txPr>
        <c:crossAx val="2094734554"/>
        <c:crosses val="autoZero"/>
        <c:crossBetween val="between"/>
        <c:majorUnit val="10"/>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103120"/>
            <a:ext cx="7680960" cy="2011680"/>
          </a:xfrm>
          <a:prstGeom prst="rect">
            <a:avLst/>
          </a:prstGeom>
          <a:noFill/>
          <a:ln/>
        </p:spPr>
        <p:txBody>
          <a:bodyPr wrap="square" rtlCol="0"/>
          <a:lstStyle>
            <a:lvl1pPr algn="l" indent="0" marL="0">
              <a:buNone/>
              <a:defRPr lang="en-US" sz="4000" b="1" dirty="0">
                <a:solidFill>
                  <a:schemeClr val="tx1"/>
                </a:solidFill>
                <a:latin typeface="Yu Gothic" pitchFamily="34" charset="0"/>
                <a:ea typeface="Yu Gothic" pitchFamily="34" charset="-122"/>
                <a:cs typeface="Yu Gothic" pitchFamily="34" charset="-120"/>
              </a:defRPr>
            </a:lvl1pPr>
          </a:lstStyle>
          <a:p>
            <a:pPr algn="l" indent="0" marL="0">
              <a:buNone/>
            </a:pPr>
            <a:endParaRPr lang="en-US" sz="4000" dirty="0"/>
          </a:p>
        </p:txBody>
      </p:sp>
      <p:sp>
        <p:nvSpPr>
          <p:cNvPr id="3" name="Text 0"/>
          <p:cNvSpPr/>
          <p:nvPr>
            <p:ph idx="101" type="body" hasCustomPrompt="1"/>
          </p:nvPr>
        </p:nvSpPr>
        <p:spPr>
          <a:xfrm>
            <a:off x="548640" y="4480560"/>
            <a:ext cx="7680960" cy="548640"/>
          </a:xfrm>
          <a:prstGeom prst="rect">
            <a:avLst/>
          </a:prstGeom>
          <a:noFill/>
          <a:ln/>
        </p:spPr>
        <p:txBody>
          <a:bodyPr wrap="square" rtlCol="0"/>
          <a:lstStyle>
            <a:lvl1pPr algn="l" indent="0" marL="0">
              <a:buNone/>
              <a:defRPr lang="en-US" sz="2000" dirty="0">
                <a:solidFill>
                  <a:schemeClr val="tx1"/>
                </a:solidFill>
                <a:latin typeface="Yu Gothic" pitchFamily="34" charset="0"/>
                <a:ea typeface="Yu Gothic" pitchFamily="34" charset="-122"/>
                <a:cs typeface="Yu Gothic" pitchFamily="34" charset="-120"/>
              </a:defRPr>
            </a:lvl1pPr>
          </a:lstStyle>
          <a:p>
            <a:pPr algn="l"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1672" cy="1188720"/>
          </a:xfrm>
          <a:prstGeom prst="rect">
            <a:avLst/>
          </a:prstGeom>
          <a:noFill/>
          <a:ln/>
        </p:spPr>
        <p:txBody>
          <a:bodyPr wrap="square" rtlCol="0"/>
          <a:lstStyle>
            <a:lvl1pPr algn="l" indent="0" marL="0">
              <a:buNone/>
              <a:defRPr lang="en-US" sz="2800" b="1" dirty="0">
                <a:solidFill>
                  <a:schemeClr val="tx1"/>
                </a:solidFill>
                <a:latin typeface="Yu Gothic" pitchFamily="34" charset="0"/>
                <a:ea typeface="Yu Gothic" pitchFamily="34" charset="-122"/>
                <a:cs typeface="Yu Gothic" pitchFamily="34" charset="-120"/>
              </a:defRPr>
            </a:lvl1pPr>
          </a:lstStyle>
          <a:p>
            <a:pPr algn="l" indent="0" marL="0">
              <a:buNone/>
            </a:pPr>
            <a:endParaRPr lang="en-US" sz="2800" dirty="0"/>
          </a:p>
        </p:txBody>
      </p:sp>
      <p:sp>
        <p:nvSpPr>
          <p:cNvPr id="3" name="Text 0"/>
          <p:cNvSpPr/>
          <p:nvPr>
            <p:ph idx="101" type="body" hasCustomPrompt="1"/>
          </p:nvPr>
        </p:nvSpPr>
        <p:spPr>
          <a:xfrm>
            <a:off x="1280160" y="6217920"/>
            <a:ext cx="10360152" cy="365760"/>
          </a:xfrm>
          <a:prstGeom prst="rect">
            <a:avLst/>
          </a:prstGeom>
          <a:noFill/>
          <a:ln/>
        </p:spPr>
        <p:txBody>
          <a:bodyPr wrap="square" rtlCol="0"/>
          <a:lstStyle>
            <a:lvl1pPr algn="r" indent="0" marL="0">
              <a:buNone/>
              <a:defRPr lang="en-US" sz="1200" dirty="0">
                <a:solidFill>
                  <a:schemeClr val="tx1"/>
                </a:solidFill>
                <a:latin typeface="Yu Gothic" pitchFamily="34" charset="0"/>
                <a:ea typeface="Yu Gothic" pitchFamily="34" charset="-122"/>
                <a:cs typeface="Yu Gothic" pitchFamily="34" charset="-120"/>
              </a:defRPr>
            </a:lvl1pPr>
          </a:lstStyle>
          <a:p>
            <a:pPr algn="r" indent="0" marL="0">
              <a:buNone/>
            </a:pPr>
            <a:endParaRPr lang="en-US" sz="1200" dirty="0"/>
          </a:p>
        </p:txBody>
      </p:sp>
      <p:sp>
        <p:nvSpPr>
          <p:cNvPr id="25" name="Slide Number Placeholder 0"/>
          <p:cNvSpPr>
            <a:spLocks noGrp="1"/>
          </p:cNvSpPr>
          <p:nvPr>
            <p:ph type="sldNum" sz="quarter" idx="4294967295"/>
          </p:nvPr>
        </p:nvSpPr>
        <p:spPr>
          <a:xfrm>
            <a:off x="548640" y="6263640"/>
            <a:ext cx="548640" cy="274320"/>
          </a:xfrm>
          <a:prstGeom prst="rect">
            <a:avLst/>
          </a:prstGeom>
          <a:extLst>
            <a:ext uri="{C572A759-6A51-4108-AA02-DFA0A04FC94B}">
              <ma14:wrappingTextBoxFlag xmlns:ma14="http://schemas.microsoft.com/office/mac/drawingml/2011/main" val="0"/>
            </a:ext>
          </a:extLst>
        </p:spPr>
        <p:txBody>
          <a:bodyPr/>
          <a:lstStyle>
            <a:lvl1pPr>
              <a:defRPr sz="1200">
                <a:solidFill>
                  <a:schemeClr val="tx1"/>
                </a:solidFill>
              </a:defRPr>
            </a:lvl1pPr>
          </a:lstStyle>
          <a:p>
            <a:pPr algn="l"/>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548640" y="6263640"/>
            <a:ext cx="548640" cy="274320"/>
          </a:xfrm>
          <a:prstGeom prst="rect">
            <a:avLst/>
          </a:prstGeom>
          <a:extLst>
            <a:ext uri="{C572A759-6A51-4108-AA02-DFA0A04FC94B}">
              <ma14:wrappingTextBoxFlag xmlns:ma14="http://schemas.microsoft.com/office/mac/drawingml/2011/main" val="0"/>
            </a:ext>
          </a:extLst>
        </p:spPr>
        <p:txBody>
          <a:bodyPr/>
          <a:lstStyle>
            <a:lvl1pPr>
              <a:defRPr sz="1200">
                <a:solidFill>
                  <a:schemeClr val="tx1"/>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hyperlink" Target="https://prtimes.jp/main/html/rd/p/000001192.000043465.html" TargetMode="External"/><Relationship Id="rId2" Type="http://schemas.openxmlformats.org/officeDocument/2006/relationships/hyperlink" Target="https://www.zaikei.co.jp/releases/3194399/" TargetMode="External"/><Relationship Id="rId3" Type="http://schemas.openxmlformats.org/officeDocument/2006/relationships/hyperlink" Target="https://www.zaikei.co.jp/releases/3304434/" TargetMode="External"/><Relationship Id="rId4" Type="http://schemas.openxmlformats.org/officeDocument/2006/relationships/hyperlink" Target="https://www.tsr-net.co.jp/data/detail/1202284_1527.html" TargetMode="External"/><Relationship Id="rId5" Type="http://schemas.openxmlformats.org/officeDocument/2006/relationships/hyperlink" Target="https://www.jfc.go.jp/n/findings/pdf/tyousa_gttupou_2308.pdf" TargetMode="External"/><Relationship Id="rId6" Type="http://schemas.openxmlformats.org/officeDocument/2006/relationships/hyperlink" Target="https://www.mof.go.jp/tax_policy/tax_reform/outline/fy2026/request/meti/08y_meti_k_29.pdf" TargetMode="External"/><Relationship Id="rId7" Type="http://schemas.openxmlformats.org/officeDocument/2006/relationships/hyperlink" Target="https://j-net21.smrj.go.jp/news/cek71k00000170m3.html" TargetMode="External"/><Relationship Id="rId8" Type="http://schemas.openxmlformats.org/officeDocument/2006/relationships/hyperlink" Target="https://www.fsa.go.jp/news/r6/ginkou/20250626-3/2503.pdf" TargetMode="External"/><Relationship Id="rId9" Type="http://schemas.openxmlformats.org/officeDocument/2006/relationships/hyperlink" Target="https://www.tsr-net.co.jp/data/detail/1201938_1527.html" TargetMode="External"/><Relationship Id="rId10" Type="http://schemas.openxmlformats.org/officeDocument/2006/relationships/hyperlink" Target="https://www.rieti.go.jp/jp/columns/s21_0005.html" TargetMode="External"/><Relationship Id="rId11" Type="http://schemas.openxmlformats.org/officeDocument/2006/relationships/slideLayout" Target="../slideLayouts/slideLayout3.xml"/><Relationship Id="rId1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2103120"/>
            <a:ext cx="7680960" cy="2011680"/>
          </a:xfrm>
          <a:prstGeom prst="rect">
            <a:avLst/>
          </a:prstGeom>
          <a:noFill/>
          <a:ln/>
        </p:spPr>
        <p:txBody>
          <a:bodyPr wrap="square" lIns="0" tIns="0" rIns="0" bIns="0" rtlCol="0" anchor="t"/>
          <a:lstStyle/>
          <a:p>
            <a:pPr algn="l" indent="0" marL="0">
              <a:buNone/>
            </a:pPr>
            <a:r>
              <a:rPr lang="en-US" sz="4000" b="1" dirty="0">
                <a:solidFill>
                  <a:schemeClr val="tx1"/>
                </a:solidFill>
                <a:latin typeface="Yu Gothic" pitchFamily="34" charset="0"/>
                <a:ea typeface="Yu Gothic" pitchFamily="34" charset="-122"/>
                <a:cs typeface="Yu Gothic" pitchFamily="34" charset="-120"/>
              </a:rPr>
              <a:t>日本の中小企業の</a:t>
            </a:r>
            <a:endParaRPr lang="en-US" sz="4000" dirty="0"/>
          </a:p>
          <a:p>
            <a:pPr algn="l" indent="0" marL="0">
              <a:buNone/>
            </a:pPr>
            <a:r>
              <a:rPr lang="en-US" sz="4000" b="1" dirty="0">
                <a:solidFill>
                  <a:schemeClr val="tx1"/>
                </a:solidFill>
                <a:latin typeface="Yu Gothic" pitchFamily="34" charset="0"/>
                <a:ea typeface="Yu Gothic" pitchFamily="34" charset="-122"/>
                <a:cs typeface="Yu Gothic" pitchFamily="34" charset="-120"/>
              </a:rPr>
              <a:t>事業承継の現状</a:t>
            </a:r>
            <a:endParaRPr lang="en-US" sz="4000" dirty="0"/>
          </a:p>
        </p:txBody>
      </p:sp>
      <p:sp>
        <p:nvSpPr>
          <p:cNvPr id="3" name="Text 0"/>
          <p:cNvSpPr/>
          <p:nvPr>
            <p:ph idx="101" type="body" hasCustomPrompt="1"/>
          </p:nvPr>
        </p:nvSpPr>
        <p:spPr>
          <a:xfrm>
            <a:off x="548640" y="4480560"/>
            <a:ext cx="7680960" cy="548640"/>
          </a:xfrm>
          <a:prstGeom prst="rect">
            <a:avLst/>
          </a:prstGeom>
          <a:noFill/>
          <a:ln/>
        </p:spPr>
        <p:txBody>
          <a:bodyPr wrap="square" lIns="0" tIns="0" rIns="0" bIns="0" rtlCol="0" anchor="t"/>
          <a:lstStyle/>
          <a:p>
            <a:pPr algn="l" indent="0" marL="0">
              <a:buNone/>
            </a:pPr>
            <a:r>
              <a:rPr lang="en-US" sz="2000" dirty="0">
                <a:solidFill>
                  <a:schemeClr val="tx1"/>
                </a:solidFill>
                <a:latin typeface="Yu Gothic" pitchFamily="34" charset="0"/>
                <a:ea typeface="Yu Gothic" pitchFamily="34" charset="-122"/>
                <a:cs typeface="Yu Gothic" pitchFamily="34" charset="-120"/>
              </a:rPr>
              <a:t>作成日 2026年10月8日</a:t>
            </a:r>
            <a:endParaRPr lang="en-US" sz="2000" dirty="0"/>
          </a:p>
        </p:txBody>
      </p:sp>
      <p:sp>
        <p:nvSpPr>
          <p:cNvPr id="4" name="表紙 円(大)"/>
          <p:cNvSpPr/>
          <p:nvPr/>
        </p:nvSpPr>
        <p:spPr>
          <a:xfrm>
            <a:off x="8686800" y="1600200"/>
            <a:ext cx="3657600" cy="3657600"/>
          </a:xfrm>
          <a:prstGeom prst="ellipse">
            <a:avLst/>
          </a:prstGeom>
          <a:solidFill>
            <a:schemeClr val="bg2"/>
          </a:solidFill>
          <a:ln w="12700">
            <a:solidFill>
              <a:schemeClr val="bg2"/>
            </a:solidFill>
            <a:prstDash val="solid"/>
          </a:ln>
        </p:spPr>
      </p:sp>
      <p:sp>
        <p:nvSpPr>
          <p:cNvPr id="5" name="表紙 円(小)"/>
          <p:cNvSpPr/>
          <p:nvPr/>
        </p:nvSpPr>
        <p:spPr>
          <a:xfrm>
            <a:off x="8229600" y="4160520"/>
            <a:ext cx="1371600" cy="1371600"/>
          </a:xfrm>
          <a:prstGeom prst="ellipse">
            <a:avLst/>
          </a:prstGeom>
          <a:solidFill>
            <a:schemeClr val="accent1"/>
          </a:solidFill>
          <a:ln w="12700">
            <a:solidFill>
              <a:schemeClr val="accent1"/>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1672" cy="1188720"/>
          </a:xfrm>
          <a:prstGeom prst="rect">
            <a:avLst/>
          </a:prstGeom>
          <a:noFill/>
          <a:ln/>
        </p:spPr>
        <p:txBody>
          <a:bodyPr wrap="square" lIns="0" tIns="0" rIns="0" bIns="0" rtlCol="0" anchor="t"/>
          <a:lstStyle/>
          <a:p>
            <a:pPr algn="l" indent="0" marL="0">
              <a:buNone/>
            </a:pPr>
            <a:r>
              <a:rPr lang="en-US" sz="2800" b="1" dirty="0">
                <a:solidFill>
                  <a:schemeClr val="tx1"/>
                </a:solidFill>
                <a:latin typeface="Yu Gothic" pitchFamily="34" charset="0"/>
                <a:ea typeface="Yu Gothic" pitchFamily="34" charset="-122"/>
                <a:cs typeface="Yu Gothic" pitchFamily="34" charset="-120"/>
              </a:rPr>
              <a:t>後継者不在率は下がったが休廃業は過去最多で、承継の相手は親族以外へ広がっている</a:t>
            </a:r>
            <a:endParaRPr lang="en-US" sz="2800" dirty="0"/>
          </a:p>
        </p:txBody>
      </p:sp>
      <p:sp>
        <p:nvSpPr>
          <p:cNvPr id="3" name="Text 0"/>
          <p:cNvSpPr/>
          <p:nvPr>
            <p:ph idx="101" type="body" hasCustomPrompt="1"/>
          </p:nvPr>
        </p:nvSpPr>
        <p:spPr>
          <a:xfrm>
            <a:off x="1280160" y="6217920"/>
            <a:ext cx="10360152" cy="365760"/>
          </a:xfrm>
          <a:prstGeom prst="rect">
            <a:avLst/>
          </a:prstGeom>
          <a:noFill/>
          <a:ln/>
        </p:spPr>
        <p:txBody>
          <a:bodyPr wrap="square" lIns="0" tIns="0" rIns="0" bIns="0" rtlCol="0" anchor="ctr"/>
          <a:lstStyle/>
          <a:p>
            <a:pPr algn="r" indent="0" marL="0">
              <a:buNone/>
            </a:pPr>
            <a:r>
              <a:rPr lang="en-US" sz="1200" dirty="0">
                <a:solidFill>
                  <a:schemeClr val="tx1"/>
                </a:solidFill>
                <a:latin typeface="Yu Gothic" pitchFamily="34" charset="0"/>
                <a:ea typeface="Yu Gothic" pitchFamily="34" charset="-122"/>
                <a:cs typeface="Yu Gothic" pitchFamily="34" charset="-120"/>
              </a:rPr>
              <a:t> </a:t>
            </a:r>
            <a:endParaRPr lang="en-US" sz="1200" dirty="0"/>
          </a:p>
        </p:txBody>
      </p:sp>
      <p:sp>
        <p:nvSpPr>
          <p:cNvPr id="4" name="要約1 枠"/>
          <p:cNvSpPr/>
          <p:nvPr/>
        </p:nvSpPr>
        <p:spPr>
          <a:xfrm>
            <a:off x="548640" y="1920240"/>
            <a:ext cx="3502152" cy="3931920"/>
          </a:xfrm>
          <a:prstGeom prst="roundRect">
            <a:avLst>
              <a:gd name="adj" fmla="val 3133"/>
            </a:avLst>
          </a:prstGeom>
          <a:solidFill>
            <a:schemeClr val="bg2"/>
          </a:solidFill>
          <a:ln w="12700">
            <a:solidFill>
              <a:schemeClr val="bg2"/>
            </a:solidFill>
            <a:prstDash val="solid"/>
          </a:ln>
        </p:spPr>
      </p:sp>
      <p:sp>
        <p:nvSpPr>
          <p:cNvPr id="5" name="要約1 丸"/>
          <p:cNvSpPr/>
          <p:nvPr/>
        </p:nvSpPr>
        <p:spPr>
          <a:xfrm>
            <a:off x="868680" y="2240280"/>
            <a:ext cx="640080" cy="640080"/>
          </a:xfrm>
          <a:prstGeom prst="ellipse">
            <a:avLst/>
          </a:prstGeom>
          <a:solidFill>
            <a:schemeClr val="accent1"/>
          </a:solidFill>
          <a:ln w="12700">
            <a:solidFill>
              <a:schemeClr val="accent1"/>
            </a:solidFill>
            <a:prstDash val="solid"/>
          </a:ln>
        </p:spPr>
      </p:sp>
      <p:sp>
        <p:nvSpPr>
          <p:cNvPr id="6" name="要約1 番号"/>
          <p:cNvSpPr txBox="1"/>
          <p:nvPr/>
        </p:nvSpPr>
        <p:spPr>
          <a:xfrm>
            <a:off x="868680" y="2240280"/>
            <a:ext cx="640080" cy="640080"/>
          </a:xfrm>
          <a:prstGeom prst="rect">
            <a:avLst/>
          </a:prstGeom>
          <a:noFill/>
          <a:ln/>
        </p:spPr>
        <p:txBody>
          <a:bodyPr wrap="square" lIns="0" tIns="0" rIns="0" bIns="0" rtlCol="0" anchor="ctr"/>
          <a:lstStyle/>
          <a:p>
            <a:pPr algn="ctr" indent="0" marL="0">
              <a:buNone/>
            </a:pPr>
            <a:r>
              <a:rPr lang="en-US" sz="2100" b="1" dirty="0">
                <a:solidFill>
                  <a:schemeClr val="bg1"/>
                </a:solidFill>
                <a:latin typeface="Yu Gothic" pitchFamily="34" charset="0"/>
                <a:ea typeface="Yu Gothic" pitchFamily="34" charset="-122"/>
                <a:cs typeface="Yu Gothic" pitchFamily="34" charset="-120"/>
              </a:rPr>
              <a:t>1</a:t>
            </a:r>
            <a:endParaRPr lang="en-US" sz="2100" dirty="0"/>
          </a:p>
        </p:txBody>
      </p:sp>
      <p:sp>
        <p:nvSpPr>
          <p:cNvPr id="7" name="要約1 本文"/>
          <p:cNvSpPr txBox="1"/>
          <p:nvPr/>
        </p:nvSpPr>
        <p:spPr>
          <a:xfrm>
            <a:off x="868680" y="3154680"/>
            <a:ext cx="2862072" cy="2468880"/>
          </a:xfrm>
          <a:prstGeom prst="rect">
            <a:avLst/>
          </a:prstGeom>
          <a:noFill/>
          <a:ln/>
        </p:spPr>
        <p:txBody>
          <a:bodyPr wrap="square" lIns="0" tIns="0" rIns="0" bIns="0" rtlCol="0" anchor="t"/>
          <a:lstStyle/>
          <a:p>
            <a:pPr algn="l" indent="0" marL="0">
              <a:buNone/>
            </a:pPr>
            <a:r>
              <a:rPr lang="en-US" sz="1800" dirty="0">
                <a:solidFill>
                  <a:schemeClr val="tx1"/>
                </a:solidFill>
                <a:latin typeface="Yu Gothic" pitchFamily="34" charset="0"/>
                <a:ea typeface="Yu Gothic" pitchFamily="34" charset="-122"/>
                <a:cs typeface="Yu Gothic" pitchFamily="34" charset="-120"/>
              </a:rPr>
              <a:t>2025年の後継者不在率は50.1%まで下がりましたが、休廃業・解散は6万7,210件で過去最多を更新しました。</a:t>
            </a:r>
            <a:endParaRPr lang="en-US" sz="1800" dirty="0"/>
          </a:p>
        </p:txBody>
      </p:sp>
      <p:sp>
        <p:nvSpPr>
          <p:cNvPr id="8" name="要約2 枠"/>
          <p:cNvSpPr/>
          <p:nvPr/>
        </p:nvSpPr>
        <p:spPr>
          <a:xfrm>
            <a:off x="4343400" y="1920240"/>
            <a:ext cx="3502152" cy="3931920"/>
          </a:xfrm>
          <a:prstGeom prst="roundRect">
            <a:avLst>
              <a:gd name="adj" fmla="val 3133"/>
            </a:avLst>
          </a:prstGeom>
          <a:solidFill>
            <a:schemeClr val="bg2"/>
          </a:solidFill>
          <a:ln w="12700">
            <a:solidFill>
              <a:schemeClr val="bg2"/>
            </a:solidFill>
            <a:prstDash val="solid"/>
          </a:ln>
        </p:spPr>
      </p:sp>
      <p:sp>
        <p:nvSpPr>
          <p:cNvPr id="9" name="要約2 丸"/>
          <p:cNvSpPr/>
          <p:nvPr/>
        </p:nvSpPr>
        <p:spPr>
          <a:xfrm>
            <a:off x="4663440" y="2240280"/>
            <a:ext cx="640080" cy="640080"/>
          </a:xfrm>
          <a:prstGeom prst="ellipse">
            <a:avLst/>
          </a:prstGeom>
          <a:solidFill>
            <a:schemeClr val="accent1"/>
          </a:solidFill>
          <a:ln w="12700">
            <a:solidFill>
              <a:schemeClr val="accent1"/>
            </a:solidFill>
            <a:prstDash val="solid"/>
          </a:ln>
        </p:spPr>
      </p:sp>
      <p:sp>
        <p:nvSpPr>
          <p:cNvPr id="10" name="要約2 番号"/>
          <p:cNvSpPr txBox="1"/>
          <p:nvPr/>
        </p:nvSpPr>
        <p:spPr>
          <a:xfrm>
            <a:off x="4663440" y="2240280"/>
            <a:ext cx="640080" cy="640080"/>
          </a:xfrm>
          <a:prstGeom prst="rect">
            <a:avLst/>
          </a:prstGeom>
          <a:noFill/>
          <a:ln/>
        </p:spPr>
        <p:txBody>
          <a:bodyPr wrap="square" lIns="0" tIns="0" rIns="0" bIns="0" rtlCol="0" anchor="ctr"/>
          <a:lstStyle/>
          <a:p>
            <a:pPr algn="ctr" indent="0" marL="0">
              <a:buNone/>
            </a:pPr>
            <a:r>
              <a:rPr lang="en-US" sz="2100" b="1" dirty="0">
                <a:solidFill>
                  <a:schemeClr val="bg1"/>
                </a:solidFill>
                <a:latin typeface="Yu Gothic" pitchFamily="34" charset="0"/>
                <a:ea typeface="Yu Gothic" pitchFamily="34" charset="-122"/>
                <a:cs typeface="Yu Gothic" pitchFamily="34" charset="-120"/>
              </a:rPr>
              <a:t>2</a:t>
            </a:r>
            <a:endParaRPr lang="en-US" sz="2100" dirty="0"/>
          </a:p>
        </p:txBody>
      </p:sp>
      <p:sp>
        <p:nvSpPr>
          <p:cNvPr id="11" name="要約2 本文"/>
          <p:cNvSpPr txBox="1"/>
          <p:nvPr/>
        </p:nvSpPr>
        <p:spPr>
          <a:xfrm>
            <a:off x="4663440" y="3154680"/>
            <a:ext cx="2862072" cy="2468880"/>
          </a:xfrm>
          <a:prstGeom prst="rect">
            <a:avLst/>
          </a:prstGeom>
          <a:noFill/>
          <a:ln/>
        </p:spPr>
        <p:txBody>
          <a:bodyPr wrap="square" lIns="0" tIns="0" rIns="0" bIns="0" rtlCol="0" anchor="t"/>
          <a:lstStyle/>
          <a:p>
            <a:pPr algn="l" indent="0" marL="0">
              <a:buNone/>
            </a:pPr>
            <a:r>
              <a:rPr lang="en-US" sz="1800" dirty="0">
                <a:solidFill>
                  <a:schemeClr val="tx1"/>
                </a:solidFill>
                <a:latin typeface="Yu Gothic" pitchFamily="34" charset="0"/>
                <a:ea typeface="Yu Gothic" pitchFamily="34" charset="-122"/>
                <a:cs typeface="Yu Gothic" pitchFamily="34" charset="-120"/>
              </a:rPr>
              <a:t>新任社長の就任経緯は、2025年(速報値)に内部昇格36.1%が同族承継32.3%を上回りました。</a:t>
            </a:r>
            <a:endParaRPr lang="en-US" sz="1800" dirty="0"/>
          </a:p>
        </p:txBody>
      </p:sp>
      <p:sp>
        <p:nvSpPr>
          <p:cNvPr id="12" name="要約3 枠"/>
          <p:cNvSpPr/>
          <p:nvPr/>
        </p:nvSpPr>
        <p:spPr>
          <a:xfrm>
            <a:off x="8138160" y="1920240"/>
            <a:ext cx="3502152" cy="3931920"/>
          </a:xfrm>
          <a:prstGeom prst="roundRect">
            <a:avLst>
              <a:gd name="adj" fmla="val 3133"/>
            </a:avLst>
          </a:prstGeom>
          <a:solidFill>
            <a:schemeClr val="bg2"/>
          </a:solidFill>
          <a:ln w="12700">
            <a:solidFill>
              <a:schemeClr val="bg2"/>
            </a:solidFill>
            <a:prstDash val="solid"/>
          </a:ln>
        </p:spPr>
      </p:sp>
      <p:sp>
        <p:nvSpPr>
          <p:cNvPr id="13" name="要約3 丸"/>
          <p:cNvSpPr/>
          <p:nvPr/>
        </p:nvSpPr>
        <p:spPr>
          <a:xfrm>
            <a:off x="8458200" y="2240280"/>
            <a:ext cx="640080" cy="640080"/>
          </a:xfrm>
          <a:prstGeom prst="ellipse">
            <a:avLst/>
          </a:prstGeom>
          <a:solidFill>
            <a:schemeClr val="accent1"/>
          </a:solidFill>
          <a:ln w="12700">
            <a:solidFill>
              <a:schemeClr val="accent1"/>
            </a:solidFill>
            <a:prstDash val="solid"/>
          </a:ln>
        </p:spPr>
      </p:sp>
      <p:sp>
        <p:nvSpPr>
          <p:cNvPr id="14" name="要約3 番号"/>
          <p:cNvSpPr txBox="1"/>
          <p:nvPr/>
        </p:nvSpPr>
        <p:spPr>
          <a:xfrm>
            <a:off x="8458200" y="2240280"/>
            <a:ext cx="640080" cy="640080"/>
          </a:xfrm>
          <a:prstGeom prst="rect">
            <a:avLst/>
          </a:prstGeom>
          <a:noFill/>
          <a:ln/>
        </p:spPr>
        <p:txBody>
          <a:bodyPr wrap="square" lIns="0" tIns="0" rIns="0" bIns="0" rtlCol="0" anchor="ctr"/>
          <a:lstStyle/>
          <a:p>
            <a:pPr algn="ctr" indent="0" marL="0">
              <a:buNone/>
            </a:pPr>
            <a:r>
              <a:rPr lang="en-US" sz="2100" b="1" dirty="0">
                <a:solidFill>
                  <a:schemeClr val="bg1"/>
                </a:solidFill>
                <a:latin typeface="Yu Gothic" pitchFamily="34" charset="0"/>
                <a:ea typeface="Yu Gothic" pitchFamily="34" charset="-122"/>
                <a:cs typeface="Yu Gothic" pitchFamily="34" charset="-120"/>
              </a:rPr>
              <a:t>3</a:t>
            </a:r>
            <a:endParaRPr lang="en-US" sz="2100" dirty="0"/>
          </a:p>
        </p:txBody>
      </p:sp>
      <p:sp>
        <p:nvSpPr>
          <p:cNvPr id="15" name="要約3 本文"/>
          <p:cNvSpPr txBox="1"/>
          <p:nvPr/>
        </p:nvSpPr>
        <p:spPr>
          <a:xfrm>
            <a:off x="8458200" y="3154680"/>
            <a:ext cx="2862072" cy="2468880"/>
          </a:xfrm>
          <a:prstGeom prst="rect">
            <a:avLst/>
          </a:prstGeom>
          <a:noFill/>
          <a:ln/>
        </p:spPr>
        <p:txBody>
          <a:bodyPr wrap="square" lIns="0" tIns="0" rIns="0" bIns="0" rtlCol="0" anchor="t"/>
          <a:lstStyle/>
          <a:p>
            <a:pPr algn="l" indent="0" marL="0">
              <a:buNone/>
            </a:pPr>
            <a:r>
              <a:rPr lang="en-US" sz="1800" dirty="0">
                <a:solidFill>
                  <a:schemeClr val="tx1"/>
                </a:solidFill>
                <a:latin typeface="Yu Gothic" pitchFamily="34" charset="0"/>
                <a:ea typeface="Yu Gothic" pitchFamily="34" charset="-122"/>
                <a:cs typeface="Yu Gothic" pitchFamily="34" charset="-120"/>
              </a:rPr>
              <a:t>廃業予定企業の45.2%は「そもそも誰かに継いでもらいたいと思っていない」と答えており、後継者難による廃業は28.4%です。</a:t>
            </a:r>
            <a:endParaRPr lang="en-US" sz="1800" dirty="0"/>
          </a:p>
        </p:txBody>
      </p:sp>
      <p:sp>
        <p:nvSpPr>
          <p:cNvPr id="25" name="Slide Number Placeholder 0"/>
          <p:cNvSpPr>
            <a:spLocks noGrp="1"/>
          </p:cNvSpPr>
          <p:nvPr>
            <p:ph type="sldNum" sz="quarter" idx="4294967295"/>
          </p:nvPr>
        </p:nvSpPr>
        <p:spPr>
          <a:xfrm>
            <a:off x="548640" y="6263640"/>
            <a:ext cx="548640" cy="274320"/>
          </a:xfrm>
          <a:prstGeom prst="rect">
            <a:avLst/>
          </a:prstGeom>
          <a:extLst>
            <a:ext uri="{C572A759-6A51-4108-AA02-DFA0A04FC94B}">
              <ma14:wrappingTextBoxFlag xmlns:ma14="http://schemas.microsoft.com/office/mac/drawingml/2011/main" val="0"/>
            </a:ext>
          </a:extLst>
        </p:spPr>
        <p:txBody>
          <a:bodyPr/>
          <a:lstStyle>
            <a:lvl1pPr>
              <a:defRPr sz="1200">
                <a:solidFill>
                  <a:schemeClr val="tx1"/>
                </a:solidFil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1672" cy="1188720"/>
          </a:xfrm>
          <a:prstGeom prst="rect">
            <a:avLst/>
          </a:prstGeom>
          <a:noFill/>
          <a:ln/>
        </p:spPr>
        <p:txBody>
          <a:bodyPr wrap="square" lIns="0" tIns="0" rIns="0" bIns="0" rtlCol="0" anchor="t"/>
          <a:lstStyle/>
          <a:p>
            <a:pPr algn="l" indent="0" marL="0">
              <a:buNone/>
            </a:pPr>
            <a:r>
              <a:rPr lang="en-US" sz="2800" b="1" dirty="0">
                <a:solidFill>
                  <a:schemeClr val="tx1"/>
                </a:solidFill>
                <a:latin typeface="Yu Gothic" pitchFamily="34" charset="0"/>
                <a:ea typeface="Yu Gothic" pitchFamily="34" charset="-122"/>
                <a:cs typeface="Yu Gothic" pitchFamily="34" charset="-120"/>
              </a:rPr>
              <a:t>後継者不在率は50.1%まで下がったが、休廃業・解散は過去最多を更新した</a:t>
            </a:r>
            <a:endParaRPr lang="en-US" sz="2800" dirty="0"/>
          </a:p>
        </p:txBody>
      </p:sp>
      <p:sp>
        <p:nvSpPr>
          <p:cNvPr id="3" name="Text 0"/>
          <p:cNvSpPr/>
          <p:nvPr>
            <p:ph idx="101" type="body" hasCustomPrompt="1"/>
          </p:nvPr>
        </p:nvSpPr>
        <p:spPr>
          <a:xfrm>
            <a:off x="1280160" y="6217920"/>
            <a:ext cx="10360152" cy="365760"/>
          </a:xfrm>
          <a:prstGeom prst="rect">
            <a:avLst/>
          </a:prstGeom>
          <a:noFill/>
          <a:ln/>
        </p:spPr>
        <p:txBody>
          <a:bodyPr wrap="square" lIns="0" tIns="0" rIns="0" bIns="0" rtlCol="0" anchor="ctr"/>
          <a:lstStyle/>
          <a:p>
            <a:pPr algn="r" indent="0" marL="0">
              <a:buNone/>
            </a:pPr>
            <a:r>
              <a:rPr lang="en-US" sz="1200" dirty="0">
                <a:solidFill>
                  <a:schemeClr val="tx1"/>
                </a:solidFill>
                <a:latin typeface="Yu Gothic" pitchFamily="34" charset="0"/>
                <a:ea typeface="Yu Gothic" pitchFamily="34" charset="-122"/>
                <a:cs typeface="Yu Gothic" pitchFamily="34" charset="-120"/>
              </a:rPr>
              <a:t>出所: 帝国データバンク(2025年、2026年)、東京商工リサーチ(2026年)</a:t>
            </a:r>
            <a:endParaRPr lang="en-US" sz="1200" dirty="0"/>
          </a:p>
        </p:txBody>
      </p:sp>
      <p:sp>
        <p:nvSpPr>
          <p:cNvPr id="4" name="数値1 枠"/>
          <p:cNvSpPr/>
          <p:nvPr/>
        </p:nvSpPr>
        <p:spPr>
          <a:xfrm>
            <a:off x="548640" y="1920240"/>
            <a:ext cx="3502152" cy="3931920"/>
          </a:xfrm>
          <a:prstGeom prst="roundRect">
            <a:avLst>
              <a:gd name="adj" fmla="val 3133"/>
            </a:avLst>
          </a:prstGeom>
          <a:solidFill>
            <a:schemeClr val="bg2"/>
          </a:solidFill>
          <a:ln w="12700">
            <a:solidFill>
              <a:schemeClr val="bg2"/>
            </a:solidFill>
            <a:prstDash val="solid"/>
          </a:ln>
        </p:spPr>
      </p:sp>
      <p:sp>
        <p:nvSpPr>
          <p:cNvPr id="5" name="数値1 名前"/>
          <p:cNvSpPr txBox="1"/>
          <p:nvPr/>
        </p:nvSpPr>
        <p:spPr>
          <a:xfrm>
            <a:off x="822960" y="2148840"/>
            <a:ext cx="2953512" cy="365760"/>
          </a:xfrm>
          <a:prstGeom prst="rect">
            <a:avLst/>
          </a:prstGeom>
          <a:noFill/>
          <a:ln/>
        </p:spPr>
        <p:txBody>
          <a:bodyPr wrap="square" lIns="0" tIns="0" rIns="0" bIns="0" rtlCol="0" anchor="ctr"/>
          <a:lstStyle/>
          <a:p>
            <a:pPr algn="l" indent="0" marL="0">
              <a:buNone/>
            </a:pPr>
            <a:r>
              <a:rPr lang="en-US" sz="1600" b="1" dirty="0">
                <a:solidFill>
                  <a:schemeClr val="tx1"/>
                </a:solidFill>
                <a:latin typeface="Yu Gothic" pitchFamily="34" charset="0"/>
                <a:ea typeface="Yu Gothic" pitchFamily="34" charset="-122"/>
                <a:cs typeface="Yu Gothic" pitchFamily="34" charset="-120"/>
              </a:rPr>
              <a:t>後継者不在率(2025年)</a:t>
            </a:r>
            <a:endParaRPr lang="en-US" sz="1600" dirty="0"/>
          </a:p>
        </p:txBody>
      </p:sp>
      <p:sp>
        <p:nvSpPr>
          <p:cNvPr id="6" name="数値1 値"/>
          <p:cNvSpPr txBox="1"/>
          <p:nvPr/>
        </p:nvSpPr>
        <p:spPr>
          <a:xfrm>
            <a:off x="822960" y="2606040"/>
            <a:ext cx="2953512" cy="914400"/>
          </a:xfrm>
          <a:prstGeom prst="rect">
            <a:avLst/>
          </a:prstGeom>
          <a:noFill/>
          <a:ln/>
        </p:spPr>
        <p:txBody>
          <a:bodyPr wrap="square" lIns="0" tIns="0" rIns="0" bIns="0" rtlCol="0" anchor="ctr"/>
          <a:lstStyle/>
          <a:p>
            <a:pPr algn="l" indent="0" marL="0">
              <a:buNone/>
            </a:pPr>
            <a:r>
              <a:rPr lang="en-US" sz="3200" b="1" dirty="0">
                <a:solidFill>
                  <a:schemeClr val="accent1"/>
                </a:solidFill>
                <a:latin typeface="Yu Gothic" pitchFamily="34" charset="0"/>
                <a:ea typeface="Yu Gothic" pitchFamily="34" charset="-122"/>
                <a:cs typeface="Yu Gothic" pitchFamily="34" charset="-120"/>
              </a:rPr>
              <a:t>50.1%</a:t>
            </a:r>
            <a:endParaRPr lang="en-US" sz="3200" dirty="0"/>
          </a:p>
        </p:txBody>
      </p:sp>
      <p:sp>
        <p:nvSpPr>
          <p:cNvPr id="7" name="数値1 本文"/>
          <p:cNvSpPr txBox="1"/>
          <p:nvPr/>
        </p:nvSpPr>
        <p:spPr>
          <a:xfrm>
            <a:off x="822960" y="3749040"/>
            <a:ext cx="2953512" cy="1920240"/>
          </a:xfrm>
          <a:prstGeom prst="rect">
            <a:avLst/>
          </a:prstGeom>
          <a:noFill/>
          <a:ln/>
        </p:spPr>
        <p:txBody>
          <a:bodyPr wrap="square" lIns="0" tIns="0" rIns="0" bIns="0" rtlCol="0" anchor="t"/>
          <a:lstStyle/>
          <a:p>
            <a:pPr algn="l" indent="0" marL="0">
              <a:buNone/>
            </a:pPr>
            <a:r>
              <a:rPr lang="en-US" sz="1600" dirty="0">
                <a:solidFill>
                  <a:schemeClr val="tx1"/>
                </a:solidFill>
                <a:latin typeface="Yu Gothic" pitchFamily="34" charset="0"/>
                <a:ea typeface="Yu Gothic" pitchFamily="34" charset="-122"/>
                <a:cs typeface="Yu Gothic" pitchFamily="34" charset="-120"/>
              </a:rPr>
              <a:t>2025年の後継者不在率は50.1%で、最高だった2017年から16.4pt下がりました。</a:t>
            </a:r>
            <a:endParaRPr lang="en-US" sz="1600" dirty="0"/>
          </a:p>
        </p:txBody>
      </p:sp>
      <p:sp>
        <p:nvSpPr>
          <p:cNvPr id="8" name="数値2 枠"/>
          <p:cNvSpPr/>
          <p:nvPr/>
        </p:nvSpPr>
        <p:spPr>
          <a:xfrm>
            <a:off x="4343400" y="1920240"/>
            <a:ext cx="3502152" cy="3931920"/>
          </a:xfrm>
          <a:prstGeom prst="roundRect">
            <a:avLst>
              <a:gd name="adj" fmla="val 3133"/>
            </a:avLst>
          </a:prstGeom>
          <a:solidFill>
            <a:schemeClr val="bg2"/>
          </a:solidFill>
          <a:ln w="12700">
            <a:solidFill>
              <a:schemeClr val="bg2"/>
            </a:solidFill>
            <a:prstDash val="solid"/>
          </a:ln>
        </p:spPr>
      </p:sp>
      <p:sp>
        <p:nvSpPr>
          <p:cNvPr id="9" name="数値2 名前"/>
          <p:cNvSpPr txBox="1"/>
          <p:nvPr/>
        </p:nvSpPr>
        <p:spPr>
          <a:xfrm>
            <a:off x="4617720" y="2148840"/>
            <a:ext cx="2953512" cy="365760"/>
          </a:xfrm>
          <a:prstGeom prst="rect">
            <a:avLst/>
          </a:prstGeom>
          <a:noFill/>
          <a:ln/>
        </p:spPr>
        <p:txBody>
          <a:bodyPr wrap="square" lIns="0" tIns="0" rIns="0" bIns="0" rtlCol="0" anchor="ctr"/>
          <a:lstStyle/>
          <a:p>
            <a:pPr algn="l" indent="0" marL="0">
              <a:buNone/>
            </a:pPr>
            <a:r>
              <a:rPr lang="en-US" sz="1600" b="1" dirty="0">
                <a:solidFill>
                  <a:schemeClr val="tx1"/>
                </a:solidFill>
                <a:latin typeface="Yu Gothic" pitchFamily="34" charset="0"/>
                <a:ea typeface="Yu Gothic" pitchFamily="34" charset="-122"/>
                <a:cs typeface="Yu Gothic" pitchFamily="34" charset="-120"/>
              </a:rPr>
              <a:t>社長の平均年齢(2025年末)</a:t>
            </a:r>
            <a:endParaRPr lang="en-US" sz="1600" dirty="0"/>
          </a:p>
        </p:txBody>
      </p:sp>
      <p:sp>
        <p:nvSpPr>
          <p:cNvPr id="10" name="数値2 値"/>
          <p:cNvSpPr txBox="1"/>
          <p:nvPr/>
        </p:nvSpPr>
        <p:spPr>
          <a:xfrm>
            <a:off x="4617720" y="2606040"/>
            <a:ext cx="2953512" cy="914400"/>
          </a:xfrm>
          <a:prstGeom prst="rect">
            <a:avLst/>
          </a:prstGeom>
          <a:noFill/>
          <a:ln/>
        </p:spPr>
        <p:txBody>
          <a:bodyPr wrap="square" lIns="0" tIns="0" rIns="0" bIns="0" rtlCol="0" anchor="ctr"/>
          <a:lstStyle/>
          <a:p>
            <a:pPr algn="l" indent="0" marL="0">
              <a:buNone/>
            </a:pPr>
            <a:r>
              <a:rPr lang="en-US" sz="3200" b="1" dirty="0">
                <a:solidFill>
                  <a:schemeClr val="accent1"/>
                </a:solidFill>
                <a:latin typeface="Yu Gothic" pitchFamily="34" charset="0"/>
                <a:ea typeface="Yu Gothic" pitchFamily="34" charset="-122"/>
                <a:cs typeface="Yu Gothic" pitchFamily="34" charset="-120"/>
              </a:rPr>
              <a:t>60.8歳</a:t>
            </a:r>
            <a:endParaRPr lang="en-US" sz="3200" dirty="0"/>
          </a:p>
        </p:txBody>
      </p:sp>
      <p:sp>
        <p:nvSpPr>
          <p:cNvPr id="11" name="数値2 本文"/>
          <p:cNvSpPr txBox="1"/>
          <p:nvPr/>
        </p:nvSpPr>
        <p:spPr>
          <a:xfrm>
            <a:off x="4617720" y="3749040"/>
            <a:ext cx="2953512" cy="1920240"/>
          </a:xfrm>
          <a:prstGeom prst="rect">
            <a:avLst/>
          </a:prstGeom>
          <a:noFill/>
          <a:ln/>
        </p:spPr>
        <p:txBody>
          <a:bodyPr wrap="square" lIns="0" tIns="0" rIns="0" bIns="0" rtlCol="0" anchor="t"/>
          <a:lstStyle/>
          <a:p>
            <a:pPr algn="l" indent="0" marL="0">
              <a:buNone/>
            </a:pPr>
            <a:r>
              <a:rPr lang="en-US" sz="1600" dirty="0">
                <a:solidFill>
                  <a:schemeClr val="tx1"/>
                </a:solidFill>
                <a:latin typeface="Yu Gothic" pitchFamily="34" charset="0"/>
                <a:ea typeface="Yu Gothic" pitchFamily="34" charset="-122"/>
                <a:cs typeface="Yu Gothic" pitchFamily="34" charset="-120"/>
              </a:rPr>
              <a:t>2025年末の社長の平均年齢は60.8歳で、35年連続で過去最高を更新しました。</a:t>
            </a:r>
            <a:endParaRPr lang="en-US" sz="1600" dirty="0"/>
          </a:p>
        </p:txBody>
      </p:sp>
      <p:sp>
        <p:nvSpPr>
          <p:cNvPr id="12" name="数値3 枠"/>
          <p:cNvSpPr/>
          <p:nvPr/>
        </p:nvSpPr>
        <p:spPr>
          <a:xfrm>
            <a:off x="8138160" y="1920240"/>
            <a:ext cx="3502152" cy="3931920"/>
          </a:xfrm>
          <a:prstGeom prst="roundRect">
            <a:avLst>
              <a:gd name="adj" fmla="val 3133"/>
            </a:avLst>
          </a:prstGeom>
          <a:solidFill>
            <a:schemeClr val="bg2"/>
          </a:solidFill>
          <a:ln w="12700">
            <a:solidFill>
              <a:schemeClr val="bg2"/>
            </a:solidFill>
            <a:prstDash val="solid"/>
          </a:ln>
        </p:spPr>
      </p:sp>
      <p:sp>
        <p:nvSpPr>
          <p:cNvPr id="13" name="数値3 名前"/>
          <p:cNvSpPr txBox="1"/>
          <p:nvPr/>
        </p:nvSpPr>
        <p:spPr>
          <a:xfrm>
            <a:off x="8412480" y="2148840"/>
            <a:ext cx="2953512" cy="365760"/>
          </a:xfrm>
          <a:prstGeom prst="rect">
            <a:avLst/>
          </a:prstGeom>
          <a:noFill/>
          <a:ln/>
        </p:spPr>
        <p:txBody>
          <a:bodyPr wrap="square" lIns="0" tIns="0" rIns="0" bIns="0" rtlCol="0" anchor="ctr"/>
          <a:lstStyle/>
          <a:p>
            <a:pPr algn="l" indent="0" marL="0">
              <a:buNone/>
            </a:pPr>
            <a:r>
              <a:rPr lang="en-US" sz="1600" b="1" dirty="0">
                <a:solidFill>
                  <a:schemeClr val="tx1"/>
                </a:solidFill>
                <a:latin typeface="Yu Gothic" pitchFamily="34" charset="0"/>
                <a:ea typeface="Yu Gothic" pitchFamily="34" charset="-122"/>
                <a:cs typeface="Yu Gothic" pitchFamily="34" charset="-120"/>
              </a:rPr>
              <a:t>休廃業・解散(2025年)</a:t>
            </a:r>
            <a:endParaRPr lang="en-US" sz="1600" dirty="0"/>
          </a:p>
        </p:txBody>
      </p:sp>
      <p:sp>
        <p:nvSpPr>
          <p:cNvPr id="14" name="数値3 値"/>
          <p:cNvSpPr txBox="1"/>
          <p:nvPr/>
        </p:nvSpPr>
        <p:spPr>
          <a:xfrm>
            <a:off x="8412480" y="2606040"/>
            <a:ext cx="2953512" cy="914400"/>
          </a:xfrm>
          <a:prstGeom prst="rect">
            <a:avLst/>
          </a:prstGeom>
          <a:noFill/>
          <a:ln/>
        </p:spPr>
        <p:txBody>
          <a:bodyPr wrap="square" lIns="0" tIns="0" rIns="0" bIns="0" rtlCol="0" anchor="ctr"/>
          <a:lstStyle/>
          <a:p>
            <a:pPr algn="l" indent="0" marL="0">
              <a:buNone/>
            </a:pPr>
            <a:r>
              <a:rPr lang="en-US" sz="3200" b="1" dirty="0">
                <a:solidFill>
                  <a:schemeClr val="accent1"/>
                </a:solidFill>
                <a:latin typeface="Yu Gothic" pitchFamily="34" charset="0"/>
                <a:ea typeface="Yu Gothic" pitchFamily="34" charset="-122"/>
                <a:cs typeface="Yu Gothic" pitchFamily="34" charset="-120"/>
              </a:rPr>
              <a:t>6万7,210件</a:t>
            </a:r>
            <a:endParaRPr lang="en-US" sz="3200" dirty="0"/>
          </a:p>
        </p:txBody>
      </p:sp>
      <p:sp>
        <p:nvSpPr>
          <p:cNvPr id="15" name="数値3 本文"/>
          <p:cNvSpPr txBox="1"/>
          <p:nvPr/>
        </p:nvSpPr>
        <p:spPr>
          <a:xfrm>
            <a:off x="8412480" y="3749040"/>
            <a:ext cx="2953512" cy="1920240"/>
          </a:xfrm>
          <a:prstGeom prst="rect">
            <a:avLst/>
          </a:prstGeom>
          <a:noFill/>
          <a:ln/>
        </p:spPr>
        <p:txBody>
          <a:bodyPr wrap="square" lIns="0" tIns="0" rIns="0" bIns="0" rtlCol="0" anchor="t"/>
          <a:lstStyle/>
          <a:p>
            <a:pPr algn="l" indent="0" marL="0">
              <a:buNone/>
            </a:pPr>
            <a:r>
              <a:rPr lang="en-US" sz="1600" dirty="0">
                <a:solidFill>
                  <a:schemeClr val="tx1"/>
                </a:solidFill>
                <a:latin typeface="Yu Gothic" pitchFamily="34" charset="0"/>
                <a:ea typeface="Yu Gothic" pitchFamily="34" charset="-122"/>
                <a:cs typeface="Yu Gothic" pitchFamily="34" charset="-120"/>
              </a:rPr>
              <a:t>2025年の休廃業・解散は6万7,210件(前年比7.2%増)で、代表者が60代以上の企業が90.6%を占めます。</a:t>
            </a:r>
            <a:endParaRPr lang="en-US" sz="1600" dirty="0"/>
          </a:p>
        </p:txBody>
      </p:sp>
      <p:sp>
        <p:nvSpPr>
          <p:cNvPr id="25" name="Slide Number Placeholder 0"/>
          <p:cNvSpPr>
            <a:spLocks noGrp="1"/>
          </p:cNvSpPr>
          <p:nvPr>
            <p:ph type="sldNum" sz="quarter" idx="4294967295"/>
          </p:nvPr>
        </p:nvSpPr>
        <p:spPr>
          <a:xfrm>
            <a:off x="548640" y="6263640"/>
            <a:ext cx="548640" cy="274320"/>
          </a:xfrm>
          <a:prstGeom prst="rect">
            <a:avLst/>
          </a:prstGeom>
          <a:extLst>
            <a:ext uri="{C572A759-6A51-4108-AA02-DFA0A04FC94B}">
              <ma14:wrappingTextBoxFlag xmlns:ma14="http://schemas.microsoft.com/office/mac/drawingml/2011/main" val="0"/>
            </a:ext>
          </a:extLst>
        </p:spPr>
        <p:txBody>
          <a:bodyPr/>
          <a:lstStyle>
            <a:lvl1pPr>
              <a:defRPr sz="1200">
                <a:solidFill>
                  <a:schemeClr val="tx1"/>
                </a:solidFil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1672" cy="1188720"/>
          </a:xfrm>
          <a:prstGeom prst="rect">
            <a:avLst/>
          </a:prstGeom>
          <a:noFill/>
          <a:ln/>
        </p:spPr>
        <p:txBody>
          <a:bodyPr wrap="square" lIns="0" tIns="0" rIns="0" bIns="0" rtlCol="0" anchor="t"/>
          <a:lstStyle/>
          <a:p>
            <a:pPr algn="l" indent="0" marL="0">
              <a:buNone/>
            </a:pPr>
            <a:r>
              <a:rPr lang="en-US" sz="2800" b="1" dirty="0">
                <a:solidFill>
                  <a:schemeClr val="tx1"/>
                </a:solidFill>
                <a:latin typeface="Yu Gothic" pitchFamily="34" charset="0"/>
                <a:ea typeface="Yu Gothic" pitchFamily="34" charset="-122"/>
                <a:cs typeface="Yu Gothic" pitchFamily="34" charset="-120"/>
              </a:rPr>
              <a:t>新任社長の就任経緯は、2025年に内部昇格が同族承継を上回った</a:t>
            </a:r>
            <a:endParaRPr lang="en-US" sz="2800" dirty="0"/>
          </a:p>
        </p:txBody>
      </p:sp>
      <p:sp>
        <p:nvSpPr>
          <p:cNvPr id="3" name="Text 0"/>
          <p:cNvSpPr/>
          <p:nvPr>
            <p:ph idx="101" type="body" hasCustomPrompt="1"/>
          </p:nvPr>
        </p:nvSpPr>
        <p:spPr>
          <a:xfrm>
            <a:off x="1280160" y="6217920"/>
            <a:ext cx="10360152" cy="365760"/>
          </a:xfrm>
          <a:prstGeom prst="rect">
            <a:avLst/>
          </a:prstGeom>
          <a:noFill/>
          <a:ln/>
        </p:spPr>
        <p:txBody>
          <a:bodyPr wrap="square" lIns="0" tIns="0" rIns="0" bIns="0" rtlCol="0" anchor="ctr"/>
          <a:lstStyle/>
          <a:p>
            <a:pPr algn="r" indent="0" marL="0">
              <a:buNone/>
            </a:pPr>
            <a:r>
              <a:rPr lang="en-US" sz="1200" dirty="0">
                <a:solidFill>
                  <a:schemeClr val="tx1"/>
                </a:solidFill>
                <a:latin typeface="Yu Gothic" pitchFamily="34" charset="0"/>
                <a:ea typeface="Yu Gothic" pitchFamily="34" charset="-122"/>
                <a:cs typeface="Yu Gothic" pitchFamily="34" charset="-120"/>
              </a:rPr>
              <a:t>出所: 帝国データバンク(2025年)、日本政策金融公庫 総合研究所(2023年)</a:t>
            </a:r>
            <a:endParaRPr lang="en-US" sz="1200" dirty="0"/>
          </a:p>
        </p:txBody>
      </p:sp>
      <p:graphicFrame>
        <p:nvGraphicFramePr>
          <p:cNvPr id="4" name="就任経緯のグラフ" descr=""/>
          <p:cNvGraphicFramePr/>
          <p:nvPr/>
        </p:nvGraphicFramePr>
        <p:xfrm>
          <a:off x="548640" y="1783080"/>
          <a:ext cx="5394960" cy="4206240"/>
        </p:xfrm>
        <a:graphic xmlns:a="http://schemas.openxmlformats.org/drawingml/2006/main">
          <a:graphicData uri="http://schemas.openxmlformats.org/drawingml/2006/chart">
            <c:chart xmlns:c="http://schemas.openxmlformats.org/drawingml/2006/chart" r:id="rId1"/>
          </a:graphicData>
        </a:graphic>
      </p:graphicFrame>
      <p:sp>
        <p:nvSpPr>
          <p:cNvPr id="5" name="点1 丸"/>
          <p:cNvSpPr/>
          <p:nvPr/>
        </p:nvSpPr>
        <p:spPr>
          <a:xfrm>
            <a:off x="6309360" y="1920240"/>
            <a:ext cx="457200" cy="457200"/>
          </a:xfrm>
          <a:prstGeom prst="ellipse">
            <a:avLst/>
          </a:prstGeom>
          <a:solidFill>
            <a:schemeClr val="accent1"/>
          </a:solidFill>
          <a:ln w="12700">
            <a:solidFill>
              <a:schemeClr val="accent1"/>
            </a:solidFill>
            <a:prstDash val="solid"/>
          </a:ln>
        </p:spPr>
      </p:sp>
      <p:sp>
        <p:nvSpPr>
          <p:cNvPr id="6" name="点1 番号"/>
          <p:cNvSpPr txBox="1"/>
          <p:nvPr/>
        </p:nvSpPr>
        <p:spPr>
          <a:xfrm>
            <a:off x="6309360" y="1920240"/>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latin typeface="Yu Gothic" pitchFamily="34" charset="0"/>
                <a:ea typeface="Yu Gothic" pitchFamily="34" charset="-122"/>
                <a:cs typeface="Yu Gothic" pitchFamily="34" charset="-120"/>
              </a:rPr>
              <a:t>1</a:t>
            </a:r>
            <a:endParaRPr lang="en-US" sz="1500" dirty="0"/>
          </a:p>
        </p:txBody>
      </p:sp>
      <p:sp>
        <p:nvSpPr>
          <p:cNvPr id="7" name="点1 本文"/>
          <p:cNvSpPr txBox="1"/>
          <p:nvPr/>
        </p:nvSpPr>
        <p:spPr>
          <a:xfrm>
            <a:off x="6995160" y="1874520"/>
            <a:ext cx="4645152" cy="1234440"/>
          </a:xfrm>
          <a:prstGeom prst="rect">
            <a:avLst/>
          </a:prstGeom>
          <a:noFill/>
          <a:ln/>
        </p:spPr>
        <p:txBody>
          <a:bodyPr wrap="square" lIns="0" tIns="0" rIns="0" bIns="0" rtlCol="0" anchor="t"/>
          <a:lstStyle/>
          <a:p>
            <a:pPr algn="l" indent="0" marL="0">
              <a:buNone/>
            </a:pPr>
            <a:r>
              <a:rPr lang="en-US" sz="1800" dirty="0">
                <a:solidFill>
                  <a:schemeClr val="tx1"/>
                </a:solidFill>
                <a:latin typeface="Yu Gothic" pitchFamily="34" charset="0"/>
                <a:ea typeface="Yu Gothic" pitchFamily="34" charset="-122"/>
                <a:cs typeface="Yu Gothic" pitchFamily="34" charset="-120"/>
              </a:rPr>
              <a:t>2025年(速報値)の就任経緯は、内部昇格36.1%、同族承継32.3%、M&amp;Aほか20.6%の順です。</a:t>
            </a:r>
            <a:endParaRPr lang="en-US" sz="1800" dirty="0"/>
          </a:p>
        </p:txBody>
      </p:sp>
      <p:sp>
        <p:nvSpPr>
          <p:cNvPr id="8" name="点2 丸"/>
          <p:cNvSpPr/>
          <p:nvPr/>
        </p:nvSpPr>
        <p:spPr>
          <a:xfrm>
            <a:off x="6309360" y="3337560"/>
            <a:ext cx="457200" cy="457200"/>
          </a:xfrm>
          <a:prstGeom prst="ellipse">
            <a:avLst/>
          </a:prstGeom>
          <a:solidFill>
            <a:schemeClr val="accent1"/>
          </a:solidFill>
          <a:ln w="12700">
            <a:solidFill>
              <a:schemeClr val="accent1"/>
            </a:solidFill>
            <a:prstDash val="solid"/>
          </a:ln>
        </p:spPr>
      </p:sp>
      <p:sp>
        <p:nvSpPr>
          <p:cNvPr id="9" name="点2 番号"/>
          <p:cNvSpPr txBox="1"/>
          <p:nvPr/>
        </p:nvSpPr>
        <p:spPr>
          <a:xfrm>
            <a:off x="6309360" y="3337560"/>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latin typeface="Yu Gothic" pitchFamily="34" charset="0"/>
                <a:ea typeface="Yu Gothic" pitchFamily="34" charset="-122"/>
                <a:cs typeface="Yu Gothic" pitchFamily="34" charset="-120"/>
              </a:rPr>
              <a:t>2</a:t>
            </a:r>
            <a:endParaRPr lang="en-US" sz="1500" dirty="0"/>
          </a:p>
        </p:txBody>
      </p:sp>
      <p:sp>
        <p:nvSpPr>
          <p:cNvPr id="10" name="点2 本文"/>
          <p:cNvSpPr txBox="1"/>
          <p:nvPr/>
        </p:nvSpPr>
        <p:spPr>
          <a:xfrm>
            <a:off x="6995160" y="3291840"/>
            <a:ext cx="4645152" cy="1234440"/>
          </a:xfrm>
          <a:prstGeom prst="rect">
            <a:avLst/>
          </a:prstGeom>
          <a:noFill/>
          <a:ln/>
        </p:spPr>
        <p:txBody>
          <a:bodyPr wrap="square" lIns="0" tIns="0" rIns="0" bIns="0" rtlCol="0" anchor="t"/>
          <a:lstStyle/>
          <a:p>
            <a:pPr algn="l" indent="0" marL="0">
              <a:buNone/>
            </a:pPr>
            <a:r>
              <a:rPr lang="en-US" sz="1800" dirty="0">
                <a:solidFill>
                  <a:schemeClr val="tx1"/>
                </a:solidFill>
                <a:latin typeface="Yu Gothic" pitchFamily="34" charset="0"/>
                <a:ea typeface="Yu Gothic" pitchFamily="34" charset="-122"/>
                <a:cs typeface="Yu Gothic" pitchFamily="34" charset="-120"/>
              </a:rPr>
              <a:t>後継者が決まっている企業で候補が「長男」の割合は、2015年調査の51.1%から2023年調査の33.7%に下がりました。</a:t>
            </a:r>
            <a:endParaRPr lang="en-US" sz="1800" dirty="0"/>
          </a:p>
        </p:txBody>
      </p:sp>
      <p:sp>
        <p:nvSpPr>
          <p:cNvPr id="11" name="点3 丸"/>
          <p:cNvSpPr/>
          <p:nvPr/>
        </p:nvSpPr>
        <p:spPr>
          <a:xfrm>
            <a:off x="6309360" y="4754880"/>
            <a:ext cx="457200" cy="457200"/>
          </a:xfrm>
          <a:prstGeom prst="ellipse">
            <a:avLst/>
          </a:prstGeom>
          <a:solidFill>
            <a:schemeClr val="accent1"/>
          </a:solidFill>
          <a:ln w="12700">
            <a:solidFill>
              <a:schemeClr val="accent1"/>
            </a:solidFill>
            <a:prstDash val="solid"/>
          </a:ln>
        </p:spPr>
      </p:sp>
      <p:sp>
        <p:nvSpPr>
          <p:cNvPr id="12" name="点3 番号"/>
          <p:cNvSpPr txBox="1"/>
          <p:nvPr/>
        </p:nvSpPr>
        <p:spPr>
          <a:xfrm>
            <a:off x="6309360" y="4754880"/>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latin typeface="Yu Gothic" pitchFamily="34" charset="0"/>
                <a:ea typeface="Yu Gothic" pitchFamily="34" charset="-122"/>
                <a:cs typeface="Yu Gothic" pitchFamily="34" charset="-120"/>
              </a:rPr>
              <a:t>3</a:t>
            </a:r>
            <a:endParaRPr lang="en-US" sz="1500" dirty="0"/>
          </a:p>
        </p:txBody>
      </p:sp>
      <p:sp>
        <p:nvSpPr>
          <p:cNvPr id="13" name="点3 本文"/>
          <p:cNvSpPr txBox="1"/>
          <p:nvPr/>
        </p:nvSpPr>
        <p:spPr>
          <a:xfrm>
            <a:off x="6995160" y="4709160"/>
            <a:ext cx="4645152" cy="1234440"/>
          </a:xfrm>
          <a:prstGeom prst="rect">
            <a:avLst/>
          </a:prstGeom>
          <a:noFill/>
          <a:ln/>
        </p:spPr>
        <p:txBody>
          <a:bodyPr wrap="square" lIns="0" tIns="0" rIns="0" bIns="0" rtlCol="0" anchor="t"/>
          <a:lstStyle/>
          <a:p>
            <a:pPr algn="l" indent="0" marL="0">
              <a:buNone/>
            </a:pPr>
            <a:r>
              <a:rPr lang="en-US" sz="1800" dirty="0">
                <a:solidFill>
                  <a:schemeClr val="tx1"/>
                </a:solidFill>
                <a:latin typeface="Yu Gothic" pitchFamily="34" charset="0"/>
                <a:ea typeface="Yu Gothic" pitchFamily="34" charset="-122"/>
                <a:cs typeface="Yu Gothic" pitchFamily="34" charset="-120"/>
              </a:rPr>
              <a:t>同じ調査で、候補が親族以外の割合は15.5%から29.5%に上がりました。</a:t>
            </a:r>
            <a:endParaRPr lang="en-US" sz="1800" dirty="0"/>
          </a:p>
        </p:txBody>
      </p:sp>
      <p:sp>
        <p:nvSpPr>
          <p:cNvPr id="25" name="Slide Number Placeholder 0"/>
          <p:cNvSpPr>
            <a:spLocks noGrp="1"/>
          </p:cNvSpPr>
          <p:nvPr>
            <p:ph type="sldNum" sz="quarter" idx="4294967295"/>
          </p:nvPr>
        </p:nvSpPr>
        <p:spPr>
          <a:xfrm>
            <a:off x="548640" y="6263640"/>
            <a:ext cx="548640" cy="274320"/>
          </a:xfrm>
          <a:prstGeom prst="rect">
            <a:avLst/>
          </a:prstGeom>
          <a:extLst>
            <a:ext uri="{C572A759-6A51-4108-AA02-DFA0A04FC94B}">
              <ma14:wrappingTextBoxFlag xmlns:ma14="http://schemas.microsoft.com/office/mac/drawingml/2011/main" val="0"/>
            </a:ext>
          </a:extLst>
        </p:spPr>
        <p:txBody>
          <a:bodyPr/>
          <a:lstStyle>
            <a:lvl1pPr>
              <a:defRPr sz="1200">
                <a:solidFill>
                  <a:schemeClr val="tx1"/>
                </a:solidFil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1672" cy="1188720"/>
          </a:xfrm>
          <a:prstGeom prst="rect">
            <a:avLst/>
          </a:prstGeom>
          <a:noFill/>
          <a:ln/>
        </p:spPr>
        <p:txBody>
          <a:bodyPr wrap="square" lIns="0" tIns="0" rIns="0" bIns="0" rtlCol="0" anchor="t"/>
          <a:lstStyle/>
          <a:p>
            <a:pPr algn="l" indent="0" marL="0">
              <a:buNone/>
            </a:pPr>
            <a:r>
              <a:rPr lang="en-US" sz="2800" b="1" dirty="0">
                <a:solidFill>
                  <a:schemeClr val="tx1"/>
                </a:solidFill>
                <a:latin typeface="Yu Gothic" pitchFamily="34" charset="0"/>
                <a:ea typeface="Yu Gothic" pitchFamily="34" charset="-122"/>
                <a:cs typeface="Yu Gothic" pitchFamily="34" charset="-120"/>
              </a:rPr>
              <a:t>経営者保証に頼らない新規融資は半数を超え、税制の特例は令和9年末に期限を迎える</a:t>
            </a:r>
            <a:endParaRPr lang="en-US" sz="2800" dirty="0"/>
          </a:p>
        </p:txBody>
      </p:sp>
      <p:sp>
        <p:nvSpPr>
          <p:cNvPr id="3" name="Text 0"/>
          <p:cNvSpPr/>
          <p:nvPr>
            <p:ph idx="101" type="body" hasCustomPrompt="1"/>
          </p:nvPr>
        </p:nvSpPr>
        <p:spPr>
          <a:xfrm>
            <a:off x="1280160" y="6217920"/>
            <a:ext cx="10360152" cy="365760"/>
          </a:xfrm>
          <a:prstGeom prst="rect">
            <a:avLst/>
          </a:prstGeom>
          <a:noFill/>
          <a:ln/>
        </p:spPr>
        <p:txBody>
          <a:bodyPr wrap="square" lIns="0" tIns="0" rIns="0" bIns="0" rtlCol="0" anchor="ctr"/>
          <a:lstStyle/>
          <a:p>
            <a:pPr algn="r" indent="0" marL="0">
              <a:buNone/>
            </a:pPr>
            <a:r>
              <a:rPr lang="en-US" sz="1200" dirty="0">
                <a:solidFill>
                  <a:schemeClr val="tx1"/>
                </a:solidFill>
                <a:latin typeface="Yu Gothic" pitchFamily="34" charset="0"/>
                <a:ea typeface="Yu Gothic" pitchFamily="34" charset="-122"/>
                <a:cs typeface="Yu Gothic" pitchFamily="34" charset="-120"/>
              </a:rPr>
              <a:t>出所: 中小企業庁(令和8年度税制改正要望、公開年の記載なし)、中小企業基盤整備機構(2025年)、金融庁(2025年)</a:t>
            </a:r>
            <a:endParaRPr lang="en-US" sz="1200" dirty="0"/>
          </a:p>
        </p:txBody>
      </p:sp>
      <p:sp>
        <p:nvSpPr>
          <p:cNvPr id="4" name="点1 丸"/>
          <p:cNvSpPr/>
          <p:nvPr/>
        </p:nvSpPr>
        <p:spPr>
          <a:xfrm>
            <a:off x="548640" y="1920240"/>
            <a:ext cx="457200" cy="457200"/>
          </a:xfrm>
          <a:prstGeom prst="ellipse">
            <a:avLst/>
          </a:prstGeom>
          <a:solidFill>
            <a:schemeClr val="accent1"/>
          </a:solidFill>
          <a:ln w="12700">
            <a:solidFill>
              <a:schemeClr val="accent1"/>
            </a:solidFill>
            <a:prstDash val="solid"/>
          </a:ln>
        </p:spPr>
      </p:sp>
      <p:sp>
        <p:nvSpPr>
          <p:cNvPr id="5" name="点1 番号"/>
          <p:cNvSpPr txBox="1"/>
          <p:nvPr/>
        </p:nvSpPr>
        <p:spPr>
          <a:xfrm>
            <a:off x="548640" y="1920240"/>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latin typeface="Yu Gothic" pitchFamily="34" charset="0"/>
                <a:ea typeface="Yu Gothic" pitchFamily="34" charset="-122"/>
                <a:cs typeface="Yu Gothic" pitchFamily="34" charset="-120"/>
              </a:rPr>
              <a:t>1</a:t>
            </a:r>
            <a:endParaRPr lang="en-US" sz="1500" dirty="0"/>
          </a:p>
        </p:txBody>
      </p:sp>
      <p:sp>
        <p:nvSpPr>
          <p:cNvPr id="6" name="点1 本文"/>
          <p:cNvSpPr txBox="1"/>
          <p:nvPr/>
        </p:nvSpPr>
        <p:spPr>
          <a:xfrm>
            <a:off x="1234440" y="1874520"/>
            <a:ext cx="4526280" cy="1234440"/>
          </a:xfrm>
          <a:prstGeom prst="rect">
            <a:avLst/>
          </a:prstGeom>
          <a:noFill/>
          <a:ln/>
        </p:spPr>
        <p:txBody>
          <a:bodyPr wrap="square" lIns="0" tIns="0" rIns="0" bIns="0" rtlCol="0" anchor="t"/>
          <a:lstStyle/>
          <a:p>
            <a:pPr algn="l" indent="0" marL="0">
              <a:buNone/>
            </a:pPr>
            <a:r>
              <a:rPr lang="en-US" sz="1800" dirty="0">
                <a:solidFill>
                  <a:schemeClr val="tx1"/>
                </a:solidFill>
                <a:latin typeface="Yu Gothic" pitchFamily="34" charset="0"/>
                <a:ea typeface="Yu Gothic" pitchFamily="34" charset="-122"/>
                <a:cs typeface="Yu Gothic" pitchFamily="34" charset="-120"/>
              </a:rPr>
              <a:t>法人版事業承継税制の特例承継計画の申請は、2023年度の5,531件から2024年度は1,671件に減りました。</a:t>
            </a:r>
            <a:endParaRPr lang="en-US" sz="1800" dirty="0"/>
          </a:p>
        </p:txBody>
      </p:sp>
      <p:sp>
        <p:nvSpPr>
          <p:cNvPr id="7" name="点2 丸"/>
          <p:cNvSpPr/>
          <p:nvPr/>
        </p:nvSpPr>
        <p:spPr>
          <a:xfrm>
            <a:off x="548640" y="3337560"/>
            <a:ext cx="457200" cy="457200"/>
          </a:xfrm>
          <a:prstGeom prst="ellipse">
            <a:avLst/>
          </a:prstGeom>
          <a:solidFill>
            <a:schemeClr val="accent1"/>
          </a:solidFill>
          <a:ln w="12700">
            <a:solidFill>
              <a:schemeClr val="accent1"/>
            </a:solidFill>
            <a:prstDash val="solid"/>
          </a:ln>
        </p:spPr>
      </p:sp>
      <p:sp>
        <p:nvSpPr>
          <p:cNvPr id="8" name="点2 番号"/>
          <p:cNvSpPr txBox="1"/>
          <p:nvPr/>
        </p:nvSpPr>
        <p:spPr>
          <a:xfrm>
            <a:off x="548640" y="3337560"/>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latin typeface="Yu Gothic" pitchFamily="34" charset="0"/>
                <a:ea typeface="Yu Gothic" pitchFamily="34" charset="-122"/>
                <a:cs typeface="Yu Gothic" pitchFamily="34" charset="-120"/>
              </a:rPr>
              <a:t>2</a:t>
            </a:r>
            <a:endParaRPr lang="en-US" sz="1500" dirty="0"/>
          </a:p>
        </p:txBody>
      </p:sp>
      <p:sp>
        <p:nvSpPr>
          <p:cNvPr id="9" name="点2 本文"/>
          <p:cNvSpPr txBox="1"/>
          <p:nvPr/>
        </p:nvSpPr>
        <p:spPr>
          <a:xfrm>
            <a:off x="1234440" y="3291840"/>
            <a:ext cx="4526280" cy="1234440"/>
          </a:xfrm>
          <a:prstGeom prst="rect">
            <a:avLst/>
          </a:prstGeom>
          <a:noFill/>
          <a:ln/>
        </p:spPr>
        <p:txBody>
          <a:bodyPr wrap="square" lIns="0" tIns="0" rIns="0" bIns="0" rtlCol="0" anchor="t"/>
          <a:lstStyle/>
          <a:p>
            <a:pPr algn="l" indent="0" marL="0">
              <a:buNone/>
            </a:pPr>
            <a:r>
              <a:rPr lang="en-US" sz="1800" dirty="0">
                <a:solidFill>
                  <a:schemeClr val="tx1"/>
                </a:solidFill>
                <a:latin typeface="Yu Gothic" pitchFamily="34" charset="0"/>
                <a:ea typeface="Yu Gothic" pitchFamily="34" charset="-122"/>
                <a:cs typeface="Yu Gothic" pitchFamily="34" charset="-120"/>
              </a:rPr>
              <a:t>事業承継・引継ぎ支援センターの令和6年度の相談者は2万3,540者で、第三者承継の成約は2,132件です。</a:t>
            </a:r>
            <a:endParaRPr lang="en-US" sz="1800" dirty="0"/>
          </a:p>
        </p:txBody>
      </p:sp>
      <p:sp>
        <p:nvSpPr>
          <p:cNvPr id="10" name="点3 丸"/>
          <p:cNvSpPr/>
          <p:nvPr/>
        </p:nvSpPr>
        <p:spPr>
          <a:xfrm>
            <a:off x="548640" y="4754880"/>
            <a:ext cx="457200" cy="457200"/>
          </a:xfrm>
          <a:prstGeom prst="ellipse">
            <a:avLst/>
          </a:prstGeom>
          <a:solidFill>
            <a:schemeClr val="accent1"/>
          </a:solidFill>
          <a:ln w="12700">
            <a:solidFill>
              <a:schemeClr val="accent1"/>
            </a:solidFill>
            <a:prstDash val="solid"/>
          </a:ln>
        </p:spPr>
      </p:sp>
      <p:sp>
        <p:nvSpPr>
          <p:cNvPr id="11" name="点3 番号"/>
          <p:cNvSpPr txBox="1"/>
          <p:nvPr/>
        </p:nvSpPr>
        <p:spPr>
          <a:xfrm>
            <a:off x="548640" y="4754880"/>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latin typeface="Yu Gothic" pitchFamily="34" charset="0"/>
                <a:ea typeface="Yu Gothic" pitchFamily="34" charset="-122"/>
                <a:cs typeface="Yu Gothic" pitchFamily="34" charset="-120"/>
              </a:rPr>
              <a:t>3</a:t>
            </a:r>
            <a:endParaRPr lang="en-US" sz="1500" dirty="0"/>
          </a:p>
        </p:txBody>
      </p:sp>
      <p:sp>
        <p:nvSpPr>
          <p:cNvPr id="12" name="点3 本文"/>
          <p:cNvSpPr txBox="1"/>
          <p:nvPr/>
        </p:nvSpPr>
        <p:spPr>
          <a:xfrm>
            <a:off x="1234440" y="4709160"/>
            <a:ext cx="4526280" cy="1234440"/>
          </a:xfrm>
          <a:prstGeom prst="rect">
            <a:avLst/>
          </a:prstGeom>
          <a:noFill/>
          <a:ln/>
        </p:spPr>
        <p:txBody>
          <a:bodyPr wrap="square" lIns="0" tIns="0" rIns="0" bIns="0" rtlCol="0" anchor="t"/>
          <a:lstStyle/>
          <a:p>
            <a:pPr algn="l" indent="0" marL="0">
              <a:buNone/>
            </a:pPr>
            <a:r>
              <a:rPr lang="en-US" sz="1800" dirty="0">
                <a:solidFill>
                  <a:schemeClr val="tx1"/>
                </a:solidFill>
                <a:latin typeface="Yu Gothic" pitchFamily="34" charset="0"/>
                <a:ea typeface="Yu Gothic" pitchFamily="34" charset="-122"/>
                <a:cs typeface="Yu Gothic" pitchFamily="34" charset="-120"/>
              </a:rPr>
              <a:t>民間金融機関の新規融資のうち経営者保証に依存しない融資の割合は、2023年度の47.6%から2024年度は52.9%に上がりました。</a:t>
            </a:r>
            <a:endParaRPr lang="en-US" sz="1800" dirty="0"/>
          </a:p>
        </p:txBody>
      </p:sp>
      <p:graphicFrame>
        <p:nvGraphicFramePr>
          <p:cNvPr id="13" name="申請件数のグラフ" descr=""/>
          <p:cNvGraphicFramePr/>
          <p:nvPr/>
        </p:nvGraphicFramePr>
        <p:xfrm>
          <a:off x="6126480" y="1783080"/>
          <a:ext cx="5513832" cy="4206240"/>
        </p:xfrm>
        <a:graphic xmlns:a="http://schemas.openxmlformats.org/drawingml/2006/main">
          <a:graphicData uri="http://schemas.openxmlformats.org/drawingml/2006/chart">
            <c:chart xmlns:c="http://schemas.openxmlformats.org/drawingml/2006/chart" r:id="rId1"/>
          </a:graphicData>
        </a:graphic>
      </p:graphicFrame>
      <p:sp>
        <p:nvSpPr>
          <p:cNvPr id="25" name="Slide Number Placeholder 0"/>
          <p:cNvSpPr>
            <a:spLocks noGrp="1"/>
          </p:cNvSpPr>
          <p:nvPr>
            <p:ph type="sldNum" sz="quarter" idx="4294967295"/>
          </p:nvPr>
        </p:nvSpPr>
        <p:spPr>
          <a:xfrm>
            <a:off x="548640" y="6263640"/>
            <a:ext cx="548640" cy="274320"/>
          </a:xfrm>
          <a:prstGeom prst="rect">
            <a:avLst/>
          </a:prstGeom>
          <a:extLst>
            <a:ext uri="{C572A759-6A51-4108-AA02-DFA0A04FC94B}">
              <ma14:wrappingTextBoxFlag xmlns:ma14="http://schemas.microsoft.com/office/mac/drawingml/2011/main" val="0"/>
            </a:ext>
          </a:extLst>
        </p:spPr>
        <p:txBody>
          <a:bodyPr/>
          <a:lstStyle>
            <a:lvl1pPr>
              <a:defRPr sz="1200">
                <a:solidFill>
                  <a:schemeClr val="tx1"/>
                </a:solidFil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1672" cy="1188720"/>
          </a:xfrm>
          <a:prstGeom prst="rect">
            <a:avLst/>
          </a:prstGeom>
          <a:noFill/>
          <a:ln/>
        </p:spPr>
        <p:txBody>
          <a:bodyPr wrap="square" lIns="0" tIns="0" rIns="0" bIns="0" rtlCol="0" anchor="t"/>
          <a:lstStyle/>
          <a:p>
            <a:pPr algn="l" indent="0" marL="0">
              <a:buNone/>
            </a:pPr>
            <a:r>
              <a:rPr lang="en-US" sz="2800" b="1" dirty="0">
                <a:solidFill>
                  <a:schemeClr val="tx1"/>
                </a:solidFill>
                <a:latin typeface="Yu Gothic" pitchFamily="34" charset="0"/>
                <a:ea typeface="Yu Gothic" pitchFamily="34" charset="-122"/>
                <a:cs typeface="Yu Gothic" pitchFamily="34" charset="-120"/>
              </a:rPr>
              <a:t>廃業予定企業の45.2%は承継を望んでおらず、後継者難による廃業は28.4%である</a:t>
            </a:r>
            <a:endParaRPr lang="en-US" sz="2800" dirty="0"/>
          </a:p>
        </p:txBody>
      </p:sp>
      <p:sp>
        <p:nvSpPr>
          <p:cNvPr id="3" name="Text 0"/>
          <p:cNvSpPr/>
          <p:nvPr>
            <p:ph idx="101" type="body" hasCustomPrompt="1"/>
          </p:nvPr>
        </p:nvSpPr>
        <p:spPr>
          <a:xfrm>
            <a:off x="1280160" y="6217920"/>
            <a:ext cx="10360152" cy="365760"/>
          </a:xfrm>
          <a:prstGeom prst="rect">
            <a:avLst/>
          </a:prstGeom>
          <a:noFill/>
          <a:ln/>
        </p:spPr>
        <p:txBody>
          <a:bodyPr wrap="square" lIns="0" tIns="0" rIns="0" bIns="0" rtlCol="0" anchor="ctr"/>
          <a:lstStyle/>
          <a:p>
            <a:pPr algn="r" indent="0" marL="0">
              <a:buNone/>
            </a:pPr>
            <a:r>
              <a:rPr lang="en-US" sz="1200" dirty="0">
                <a:solidFill>
                  <a:schemeClr val="tx1"/>
                </a:solidFill>
                <a:latin typeface="Yu Gothic" pitchFamily="34" charset="0"/>
                <a:ea typeface="Yu Gothic" pitchFamily="34" charset="-122"/>
                <a:cs typeface="Yu Gothic" pitchFamily="34" charset="-120"/>
              </a:rPr>
              <a:t>出所: 日本政策金融公庫 総合研究所(2023年)、東京商工リサーチ(2025年)、経済産業研究所(2020年)</a:t>
            </a:r>
            <a:endParaRPr lang="en-US" sz="1200" dirty="0"/>
          </a:p>
        </p:txBody>
      </p:sp>
      <p:graphicFrame>
        <p:nvGraphicFramePr>
          <p:cNvPr id="4" name="廃業理由のグラフ" descr=""/>
          <p:cNvGraphicFramePr/>
          <p:nvPr/>
        </p:nvGraphicFramePr>
        <p:xfrm>
          <a:off x="548640" y="1783080"/>
          <a:ext cx="5760720" cy="4206240"/>
        </p:xfrm>
        <a:graphic xmlns:a="http://schemas.openxmlformats.org/drawingml/2006/main">
          <a:graphicData uri="http://schemas.openxmlformats.org/drawingml/2006/chart">
            <c:chart xmlns:c="http://schemas.openxmlformats.org/drawingml/2006/chart" r:id="rId1"/>
          </a:graphicData>
        </a:graphic>
      </p:graphicFrame>
      <p:sp>
        <p:nvSpPr>
          <p:cNvPr id="5" name="点1 丸"/>
          <p:cNvSpPr/>
          <p:nvPr/>
        </p:nvSpPr>
        <p:spPr>
          <a:xfrm>
            <a:off x="6675120" y="1920240"/>
            <a:ext cx="457200" cy="457200"/>
          </a:xfrm>
          <a:prstGeom prst="ellipse">
            <a:avLst/>
          </a:prstGeom>
          <a:solidFill>
            <a:schemeClr val="accent1"/>
          </a:solidFill>
          <a:ln w="12700">
            <a:solidFill>
              <a:schemeClr val="accent1"/>
            </a:solidFill>
            <a:prstDash val="solid"/>
          </a:ln>
        </p:spPr>
      </p:sp>
      <p:sp>
        <p:nvSpPr>
          <p:cNvPr id="6" name="点1 番号"/>
          <p:cNvSpPr txBox="1"/>
          <p:nvPr/>
        </p:nvSpPr>
        <p:spPr>
          <a:xfrm>
            <a:off x="6675120" y="1920240"/>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latin typeface="Yu Gothic" pitchFamily="34" charset="0"/>
                <a:ea typeface="Yu Gothic" pitchFamily="34" charset="-122"/>
                <a:cs typeface="Yu Gothic" pitchFamily="34" charset="-120"/>
              </a:rPr>
              <a:t>1</a:t>
            </a:r>
            <a:endParaRPr lang="en-US" sz="1500" dirty="0"/>
          </a:p>
        </p:txBody>
      </p:sp>
      <p:sp>
        <p:nvSpPr>
          <p:cNvPr id="7" name="点1 本文"/>
          <p:cNvSpPr txBox="1"/>
          <p:nvPr/>
        </p:nvSpPr>
        <p:spPr>
          <a:xfrm>
            <a:off x="7360920" y="1874520"/>
            <a:ext cx="4096512" cy="1234440"/>
          </a:xfrm>
          <a:prstGeom prst="rect">
            <a:avLst/>
          </a:prstGeom>
          <a:noFill/>
          <a:ln/>
        </p:spPr>
        <p:txBody>
          <a:bodyPr wrap="square" lIns="0" tIns="0" rIns="0" bIns="0" rtlCol="0" anchor="t"/>
          <a:lstStyle/>
          <a:p>
            <a:pPr algn="l" indent="0" marL="0">
              <a:buNone/>
            </a:pPr>
            <a:r>
              <a:rPr lang="en-US" sz="1600" dirty="0">
                <a:solidFill>
                  <a:schemeClr val="tx1"/>
                </a:solidFill>
                <a:latin typeface="Yu Gothic" pitchFamily="34" charset="0"/>
                <a:ea typeface="Yu Gothic" pitchFamily="34" charset="-122"/>
                <a:cs typeface="Yu Gothic" pitchFamily="34" charset="-120"/>
              </a:rPr>
              <a:t>廃業予定企業の廃業理由は、「そもそも誰かに継いでもらいたいと思っていない」45.2%、後継者難28.4%、業績不振25.3%です。</a:t>
            </a:r>
            <a:endParaRPr lang="en-US" sz="1600" dirty="0"/>
          </a:p>
        </p:txBody>
      </p:sp>
      <p:sp>
        <p:nvSpPr>
          <p:cNvPr id="8" name="点2 丸"/>
          <p:cNvSpPr/>
          <p:nvPr/>
        </p:nvSpPr>
        <p:spPr>
          <a:xfrm>
            <a:off x="6675120" y="3337560"/>
            <a:ext cx="457200" cy="457200"/>
          </a:xfrm>
          <a:prstGeom prst="ellipse">
            <a:avLst/>
          </a:prstGeom>
          <a:solidFill>
            <a:schemeClr val="accent1"/>
          </a:solidFill>
          <a:ln w="12700">
            <a:solidFill>
              <a:schemeClr val="accent1"/>
            </a:solidFill>
            <a:prstDash val="solid"/>
          </a:ln>
        </p:spPr>
      </p:sp>
      <p:sp>
        <p:nvSpPr>
          <p:cNvPr id="9" name="点2 番号"/>
          <p:cNvSpPr txBox="1"/>
          <p:nvPr/>
        </p:nvSpPr>
        <p:spPr>
          <a:xfrm>
            <a:off x="6675120" y="3337560"/>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latin typeface="Yu Gothic" pitchFamily="34" charset="0"/>
                <a:ea typeface="Yu Gothic" pitchFamily="34" charset="-122"/>
                <a:cs typeface="Yu Gothic" pitchFamily="34" charset="-120"/>
              </a:rPr>
              <a:t>2</a:t>
            </a:r>
            <a:endParaRPr lang="en-US" sz="1500" dirty="0"/>
          </a:p>
        </p:txBody>
      </p:sp>
      <p:sp>
        <p:nvSpPr>
          <p:cNvPr id="10" name="点2 本文"/>
          <p:cNvSpPr txBox="1"/>
          <p:nvPr/>
        </p:nvSpPr>
        <p:spPr>
          <a:xfrm>
            <a:off x="7360920" y="3291840"/>
            <a:ext cx="4096512" cy="1234440"/>
          </a:xfrm>
          <a:prstGeom prst="rect">
            <a:avLst/>
          </a:prstGeom>
          <a:noFill/>
          <a:ln/>
        </p:spPr>
        <p:txBody>
          <a:bodyPr wrap="square" lIns="0" tIns="0" rIns="0" bIns="0" rtlCol="0" anchor="t"/>
          <a:lstStyle/>
          <a:p>
            <a:pPr algn="l" indent="0" marL="0">
              <a:buNone/>
            </a:pPr>
            <a:r>
              <a:rPr lang="en-US" sz="1600" dirty="0">
                <a:solidFill>
                  <a:schemeClr val="tx1"/>
                </a:solidFill>
                <a:latin typeface="Yu Gothic" pitchFamily="34" charset="0"/>
                <a:ea typeface="Yu Gothic" pitchFamily="34" charset="-122"/>
                <a:cs typeface="Yu Gothic" pitchFamily="34" charset="-120"/>
              </a:rPr>
              <a:t>東京商工リサーチは、仲介業者を介したM&amp;Aでトラブルが増えているとし、利益相反や不透明な手数料を課題に挙げています。</a:t>
            </a:r>
            <a:endParaRPr lang="en-US" sz="1600" dirty="0"/>
          </a:p>
        </p:txBody>
      </p:sp>
      <p:sp>
        <p:nvSpPr>
          <p:cNvPr id="11" name="点3 丸"/>
          <p:cNvSpPr/>
          <p:nvPr/>
        </p:nvSpPr>
        <p:spPr>
          <a:xfrm>
            <a:off x="6675120" y="4754880"/>
            <a:ext cx="457200" cy="457200"/>
          </a:xfrm>
          <a:prstGeom prst="ellipse">
            <a:avLst/>
          </a:prstGeom>
          <a:solidFill>
            <a:schemeClr val="accent1"/>
          </a:solidFill>
          <a:ln w="12700">
            <a:solidFill>
              <a:schemeClr val="accent1"/>
            </a:solidFill>
            <a:prstDash val="solid"/>
          </a:ln>
        </p:spPr>
      </p:sp>
      <p:sp>
        <p:nvSpPr>
          <p:cNvPr id="12" name="点3 番号"/>
          <p:cNvSpPr txBox="1"/>
          <p:nvPr/>
        </p:nvSpPr>
        <p:spPr>
          <a:xfrm>
            <a:off x="6675120" y="4754880"/>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latin typeface="Yu Gothic" pitchFamily="34" charset="0"/>
                <a:ea typeface="Yu Gothic" pitchFamily="34" charset="-122"/>
                <a:cs typeface="Yu Gothic" pitchFamily="34" charset="-120"/>
              </a:rPr>
              <a:t>3</a:t>
            </a:r>
            <a:endParaRPr lang="en-US" sz="1500" dirty="0"/>
          </a:p>
        </p:txBody>
      </p:sp>
      <p:sp>
        <p:nvSpPr>
          <p:cNvPr id="13" name="点3 本文"/>
          <p:cNvSpPr txBox="1"/>
          <p:nvPr/>
        </p:nvSpPr>
        <p:spPr>
          <a:xfrm>
            <a:off x="7360920" y="4709160"/>
            <a:ext cx="4096512" cy="1234440"/>
          </a:xfrm>
          <a:prstGeom prst="rect">
            <a:avLst/>
          </a:prstGeom>
          <a:noFill/>
          <a:ln/>
        </p:spPr>
        <p:txBody>
          <a:bodyPr wrap="square" lIns="0" tIns="0" rIns="0" bIns="0" rtlCol="0" anchor="t"/>
          <a:lstStyle/>
          <a:p>
            <a:pPr algn="l" indent="0" marL="0">
              <a:buNone/>
            </a:pPr>
            <a:r>
              <a:rPr lang="en-US" sz="1600" dirty="0">
                <a:solidFill>
                  <a:schemeClr val="tx1"/>
                </a:solidFill>
                <a:latin typeface="Yu Gothic" pitchFamily="34" charset="0"/>
                <a:ea typeface="Yu Gothic" pitchFamily="34" charset="-122"/>
                <a:cs typeface="Yu Gothic" pitchFamily="34" charset="-120"/>
              </a:rPr>
              <a:t>承継した企業610社の当期利益は、承継時と比べて「大きく増加」8.5%と「増加」32.0%で、「減少」13.4%と「大きく減少」3.8%を上回ります。</a:t>
            </a:r>
            <a:endParaRPr lang="en-US" sz="1600" dirty="0"/>
          </a:p>
        </p:txBody>
      </p:sp>
      <p:sp>
        <p:nvSpPr>
          <p:cNvPr id="25" name="Slide Number Placeholder 0"/>
          <p:cNvSpPr>
            <a:spLocks noGrp="1"/>
          </p:cNvSpPr>
          <p:nvPr>
            <p:ph type="sldNum" sz="quarter" idx="4294967295"/>
          </p:nvPr>
        </p:nvSpPr>
        <p:spPr>
          <a:xfrm>
            <a:off x="548640" y="6263640"/>
            <a:ext cx="548640" cy="274320"/>
          </a:xfrm>
          <a:prstGeom prst="rect">
            <a:avLst/>
          </a:prstGeom>
          <a:extLst>
            <a:ext uri="{C572A759-6A51-4108-AA02-DFA0A04FC94B}">
              <ma14:wrappingTextBoxFlag xmlns:ma14="http://schemas.microsoft.com/office/mac/drawingml/2011/main" val="0"/>
            </a:ext>
          </a:extLst>
        </p:spPr>
        <p:txBody>
          <a:bodyPr/>
          <a:lstStyle>
            <a:lvl1pPr>
              <a:defRPr sz="1200">
                <a:solidFill>
                  <a:schemeClr val="tx1"/>
                </a:solidFil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1672" cy="1188720"/>
          </a:xfrm>
          <a:prstGeom prst="rect">
            <a:avLst/>
          </a:prstGeom>
          <a:noFill/>
          <a:ln/>
        </p:spPr>
        <p:txBody>
          <a:bodyPr wrap="square" lIns="0" tIns="0" rIns="0" bIns="0" rtlCol="0" anchor="t"/>
          <a:lstStyle/>
          <a:p>
            <a:pPr algn="l" indent="0" marL="0">
              <a:buNone/>
            </a:pPr>
            <a:r>
              <a:rPr lang="en-US" sz="2800" b="1" dirty="0">
                <a:solidFill>
                  <a:schemeClr val="tx1"/>
                </a:solidFill>
                <a:latin typeface="Yu Gothic" pitchFamily="34" charset="0"/>
                <a:ea typeface="Yu Gothic" pitchFamily="34" charset="-122"/>
                <a:cs typeface="Yu Gothic" pitchFamily="34" charset="-120"/>
              </a:rPr>
              <a:t>後継者不在率が下がる一方で、休廃業・解散は増え続けている</a:t>
            </a:r>
            <a:endParaRPr lang="en-US" sz="2800" dirty="0"/>
          </a:p>
        </p:txBody>
      </p:sp>
      <p:sp>
        <p:nvSpPr>
          <p:cNvPr id="3" name="Text 0"/>
          <p:cNvSpPr/>
          <p:nvPr>
            <p:ph idx="101" type="body" hasCustomPrompt="1"/>
          </p:nvPr>
        </p:nvSpPr>
        <p:spPr>
          <a:xfrm>
            <a:off x="1280160" y="6217920"/>
            <a:ext cx="10360152" cy="365760"/>
          </a:xfrm>
          <a:prstGeom prst="rect">
            <a:avLst/>
          </a:prstGeom>
          <a:noFill/>
          <a:ln/>
        </p:spPr>
        <p:txBody>
          <a:bodyPr wrap="square" lIns="0" tIns="0" rIns="0" bIns="0" rtlCol="0" anchor="ctr"/>
          <a:lstStyle/>
          <a:p>
            <a:pPr algn="r" indent="0" marL="0">
              <a:buNone/>
            </a:pPr>
            <a:r>
              <a:rPr lang="en-US" sz="1200" dirty="0">
                <a:solidFill>
                  <a:schemeClr val="tx1"/>
                </a:solidFill>
                <a:latin typeface="Yu Gothic" pitchFamily="34" charset="0"/>
                <a:ea typeface="Yu Gothic" pitchFamily="34" charset="-122"/>
                <a:cs typeface="Yu Gothic" pitchFamily="34" charset="-120"/>
              </a:rPr>
              <a:t>出所: 帝国データバンク(2025年)、東京商工リサーチ(2026年)、日本政策金融公庫 総合研究所(2023年)、金融庁(2025年)</a:t>
            </a:r>
            <a:endParaRPr lang="en-US" sz="1200" dirty="0"/>
          </a:p>
        </p:txBody>
      </p:sp>
      <p:sp>
        <p:nvSpPr>
          <p:cNvPr id="4" name="まとめ1 枠"/>
          <p:cNvSpPr/>
          <p:nvPr/>
        </p:nvSpPr>
        <p:spPr>
          <a:xfrm>
            <a:off x="548640" y="1600200"/>
            <a:ext cx="11091672" cy="1188720"/>
          </a:xfrm>
          <a:prstGeom prst="roundRect">
            <a:avLst>
              <a:gd name="adj" fmla="val 9231"/>
            </a:avLst>
          </a:prstGeom>
          <a:solidFill>
            <a:schemeClr val="bg2"/>
          </a:solidFill>
          <a:ln w="12700">
            <a:solidFill>
              <a:schemeClr val="bg2"/>
            </a:solidFill>
            <a:prstDash val="solid"/>
          </a:ln>
        </p:spPr>
      </p:sp>
      <p:sp>
        <p:nvSpPr>
          <p:cNvPr id="5" name="まとめ1 丸"/>
          <p:cNvSpPr/>
          <p:nvPr/>
        </p:nvSpPr>
        <p:spPr>
          <a:xfrm>
            <a:off x="822960" y="1874520"/>
            <a:ext cx="640080" cy="640080"/>
          </a:xfrm>
          <a:prstGeom prst="ellipse">
            <a:avLst/>
          </a:prstGeom>
          <a:solidFill>
            <a:schemeClr val="accent1"/>
          </a:solidFill>
          <a:ln w="12700">
            <a:solidFill>
              <a:schemeClr val="accent1"/>
            </a:solidFill>
            <a:prstDash val="solid"/>
          </a:ln>
        </p:spPr>
      </p:sp>
      <p:sp>
        <p:nvSpPr>
          <p:cNvPr id="6" name="まとめ1 番号"/>
          <p:cNvSpPr txBox="1"/>
          <p:nvPr/>
        </p:nvSpPr>
        <p:spPr>
          <a:xfrm>
            <a:off x="822960" y="1874520"/>
            <a:ext cx="640080" cy="640080"/>
          </a:xfrm>
          <a:prstGeom prst="rect">
            <a:avLst/>
          </a:prstGeom>
          <a:noFill/>
          <a:ln/>
        </p:spPr>
        <p:txBody>
          <a:bodyPr wrap="square" lIns="0" tIns="0" rIns="0" bIns="0" rtlCol="0" anchor="ctr"/>
          <a:lstStyle/>
          <a:p>
            <a:pPr algn="ctr" indent="0" marL="0">
              <a:buNone/>
            </a:pPr>
            <a:r>
              <a:rPr lang="en-US" sz="2100" b="1" dirty="0">
                <a:solidFill>
                  <a:schemeClr val="bg1"/>
                </a:solidFill>
                <a:latin typeface="Yu Gothic" pitchFamily="34" charset="0"/>
                <a:ea typeface="Yu Gothic" pitchFamily="34" charset="-122"/>
                <a:cs typeface="Yu Gothic" pitchFamily="34" charset="-120"/>
              </a:rPr>
              <a:t>1</a:t>
            </a:r>
            <a:endParaRPr lang="en-US" sz="2100" dirty="0"/>
          </a:p>
        </p:txBody>
      </p:sp>
      <p:sp>
        <p:nvSpPr>
          <p:cNvPr id="7" name="まとめ1 本文"/>
          <p:cNvSpPr txBox="1"/>
          <p:nvPr/>
        </p:nvSpPr>
        <p:spPr>
          <a:xfrm>
            <a:off x="1737360" y="1691640"/>
            <a:ext cx="9628632" cy="1005840"/>
          </a:xfrm>
          <a:prstGeom prst="rect">
            <a:avLst/>
          </a:prstGeom>
          <a:noFill/>
          <a:ln/>
        </p:spPr>
        <p:txBody>
          <a:bodyPr wrap="square" lIns="0" tIns="0" rIns="0" bIns="0" rtlCol="0" anchor="ctr"/>
          <a:lstStyle/>
          <a:p>
            <a:pPr algn="l" indent="0" marL="0">
              <a:buNone/>
            </a:pPr>
            <a:r>
              <a:rPr lang="en-US" sz="1800" dirty="0">
                <a:solidFill>
                  <a:schemeClr val="tx1"/>
                </a:solidFill>
                <a:latin typeface="Yu Gothic" pitchFamily="34" charset="0"/>
                <a:ea typeface="Yu Gothic" pitchFamily="34" charset="-122"/>
                <a:cs typeface="Yu Gothic" pitchFamily="34" charset="-120"/>
              </a:rPr>
              <a:t>後継者不在率は7年連続で下がりましたが、休廃業・解散は4年連続で増えています。</a:t>
            </a:r>
            <a:endParaRPr lang="en-US" sz="1800" dirty="0"/>
          </a:p>
        </p:txBody>
      </p:sp>
      <p:sp>
        <p:nvSpPr>
          <p:cNvPr id="8" name="まとめ2 枠"/>
          <p:cNvSpPr/>
          <p:nvPr/>
        </p:nvSpPr>
        <p:spPr>
          <a:xfrm>
            <a:off x="548640" y="2971800"/>
            <a:ext cx="11091672" cy="1188720"/>
          </a:xfrm>
          <a:prstGeom prst="roundRect">
            <a:avLst>
              <a:gd name="adj" fmla="val 9231"/>
            </a:avLst>
          </a:prstGeom>
          <a:solidFill>
            <a:schemeClr val="bg2"/>
          </a:solidFill>
          <a:ln w="12700">
            <a:solidFill>
              <a:schemeClr val="bg2"/>
            </a:solidFill>
            <a:prstDash val="solid"/>
          </a:ln>
        </p:spPr>
      </p:sp>
      <p:sp>
        <p:nvSpPr>
          <p:cNvPr id="9" name="まとめ2 丸"/>
          <p:cNvSpPr/>
          <p:nvPr/>
        </p:nvSpPr>
        <p:spPr>
          <a:xfrm>
            <a:off x="822960" y="3246120"/>
            <a:ext cx="640080" cy="640080"/>
          </a:xfrm>
          <a:prstGeom prst="ellipse">
            <a:avLst/>
          </a:prstGeom>
          <a:solidFill>
            <a:schemeClr val="accent1"/>
          </a:solidFill>
          <a:ln w="12700">
            <a:solidFill>
              <a:schemeClr val="accent1"/>
            </a:solidFill>
            <a:prstDash val="solid"/>
          </a:ln>
        </p:spPr>
      </p:sp>
      <p:sp>
        <p:nvSpPr>
          <p:cNvPr id="10" name="まとめ2 番号"/>
          <p:cNvSpPr txBox="1"/>
          <p:nvPr/>
        </p:nvSpPr>
        <p:spPr>
          <a:xfrm>
            <a:off x="822960" y="3246120"/>
            <a:ext cx="640080" cy="640080"/>
          </a:xfrm>
          <a:prstGeom prst="rect">
            <a:avLst/>
          </a:prstGeom>
          <a:noFill/>
          <a:ln/>
        </p:spPr>
        <p:txBody>
          <a:bodyPr wrap="square" lIns="0" tIns="0" rIns="0" bIns="0" rtlCol="0" anchor="ctr"/>
          <a:lstStyle/>
          <a:p>
            <a:pPr algn="ctr" indent="0" marL="0">
              <a:buNone/>
            </a:pPr>
            <a:r>
              <a:rPr lang="en-US" sz="2100" b="1" dirty="0">
                <a:solidFill>
                  <a:schemeClr val="bg1"/>
                </a:solidFill>
                <a:latin typeface="Yu Gothic" pitchFamily="34" charset="0"/>
                <a:ea typeface="Yu Gothic" pitchFamily="34" charset="-122"/>
                <a:cs typeface="Yu Gothic" pitchFamily="34" charset="-120"/>
              </a:rPr>
              <a:t>2</a:t>
            </a:r>
            <a:endParaRPr lang="en-US" sz="2100" dirty="0"/>
          </a:p>
        </p:txBody>
      </p:sp>
      <p:sp>
        <p:nvSpPr>
          <p:cNvPr id="11" name="まとめ2 本文"/>
          <p:cNvSpPr txBox="1"/>
          <p:nvPr/>
        </p:nvSpPr>
        <p:spPr>
          <a:xfrm>
            <a:off x="1737360" y="3063240"/>
            <a:ext cx="9628632" cy="1005840"/>
          </a:xfrm>
          <a:prstGeom prst="rect">
            <a:avLst/>
          </a:prstGeom>
          <a:noFill/>
          <a:ln/>
        </p:spPr>
        <p:txBody>
          <a:bodyPr wrap="square" lIns="0" tIns="0" rIns="0" bIns="0" rtlCol="0" anchor="ctr"/>
          <a:lstStyle/>
          <a:p>
            <a:pPr algn="l" indent="0" marL="0">
              <a:buNone/>
            </a:pPr>
            <a:r>
              <a:rPr lang="en-US" sz="1800" dirty="0">
                <a:solidFill>
                  <a:schemeClr val="tx1"/>
                </a:solidFill>
                <a:latin typeface="Yu Gothic" pitchFamily="34" charset="0"/>
                <a:ea typeface="Yu Gothic" pitchFamily="34" charset="-122"/>
                <a:cs typeface="Yu Gothic" pitchFamily="34" charset="-120"/>
              </a:rPr>
              <a:t>承継の相手は親族以外へ広がっていますが、代表者の交代時に旧経営者の保証を外し、新経営者とも保証契約を結ばなかった割合は2024年度で16.4%です。</a:t>
            </a:r>
            <a:endParaRPr lang="en-US" sz="1800" dirty="0"/>
          </a:p>
        </p:txBody>
      </p:sp>
      <p:sp>
        <p:nvSpPr>
          <p:cNvPr id="12" name="まとめ3 枠"/>
          <p:cNvSpPr/>
          <p:nvPr/>
        </p:nvSpPr>
        <p:spPr>
          <a:xfrm>
            <a:off x="548640" y="4343400"/>
            <a:ext cx="11091672" cy="1188720"/>
          </a:xfrm>
          <a:prstGeom prst="roundRect">
            <a:avLst>
              <a:gd name="adj" fmla="val 9231"/>
            </a:avLst>
          </a:prstGeom>
          <a:solidFill>
            <a:schemeClr val="bg2"/>
          </a:solidFill>
          <a:ln w="12700">
            <a:solidFill>
              <a:schemeClr val="bg2"/>
            </a:solidFill>
            <a:prstDash val="solid"/>
          </a:ln>
        </p:spPr>
      </p:sp>
      <p:sp>
        <p:nvSpPr>
          <p:cNvPr id="13" name="まとめ3 丸"/>
          <p:cNvSpPr/>
          <p:nvPr/>
        </p:nvSpPr>
        <p:spPr>
          <a:xfrm>
            <a:off x="822960" y="4617720"/>
            <a:ext cx="640080" cy="640080"/>
          </a:xfrm>
          <a:prstGeom prst="ellipse">
            <a:avLst/>
          </a:prstGeom>
          <a:solidFill>
            <a:schemeClr val="accent1"/>
          </a:solidFill>
          <a:ln w="12700">
            <a:solidFill>
              <a:schemeClr val="accent1"/>
            </a:solidFill>
            <a:prstDash val="solid"/>
          </a:ln>
        </p:spPr>
      </p:sp>
      <p:sp>
        <p:nvSpPr>
          <p:cNvPr id="14" name="まとめ3 番号"/>
          <p:cNvSpPr txBox="1"/>
          <p:nvPr/>
        </p:nvSpPr>
        <p:spPr>
          <a:xfrm>
            <a:off x="822960" y="4617720"/>
            <a:ext cx="640080" cy="640080"/>
          </a:xfrm>
          <a:prstGeom prst="rect">
            <a:avLst/>
          </a:prstGeom>
          <a:noFill/>
          <a:ln/>
        </p:spPr>
        <p:txBody>
          <a:bodyPr wrap="square" lIns="0" tIns="0" rIns="0" bIns="0" rtlCol="0" anchor="ctr"/>
          <a:lstStyle/>
          <a:p>
            <a:pPr algn="ctr" indent="0" marL="0">
              <a:buNone/>
            </a:pPr>
            <a:r>
              <a:rPr lang="en-US" sz="2100" b="1" dirty="0">
                <a:solidFill>
                  <a:schemeClr val="bg1"/>
                </a:solidFill>
                <a:latin typeface="Yu Gothic" pitchFamily="34" charset="0"/>
                <a:ea typeface="Yu Gothic" pitchFamily="34" charset="-122"/>
                <a:cs typeface="Yu Gothic" pitchFamily="34" charset="-120"/>
              </a:rPr>
              <a:t>3</a:t>
            </a:r>
            <a:endParaRPr lang="en-US" sz="2100" dirty="0"/>
          </a:p>
        </p:txBody>
      </p:sp>
      <p:sp>
        <p:nvSpPr>
          <p:cNvPr id="15" name="まとめ3 本文"/>
          <p:cNvSpPr txBox="1"/>
          <p:nvPr/>
        </p:nvSpPr>
        <p:spPr>
          <a:xfrm>
            <a:off x="1737360" y="4434840"/>
            <a:ext cx="9628632" cy="1005840"/>
          </a:xfrm>
          <a:prstGeom prst="rect">
            <a:avLst/>
          </a:prstGeom>
          <a:noFill/>
          <a:ln/>
        </p:spPr>
        <p:txBody>
          <a:bodyPr wrap="square" lIns="0" tIns="0" rIns="0" bIns="0" rtlCol="0" anchor="ctr"/>
          <a:lstStyle/>
          <a:p>
            <a:pPr algn="l" indent="0" marL="0">
              <a:buNone/>
            </a:pPr>
            <a:r>
              <a:rPr lang="en-US" sz="1800" dirty="0">
                <a:solidFill>
                  <a:schemeClr val="tx1"/>
                </a:solidFill>
                <a:latin typeface="Yu Gothic" pitchFamily="34" charset="0"/>
                <a:ea typeface="Yu Gothic" pitchFamily="34" charset="-122"/>
                <a:cs typeface="Yu Gothic" pitchFamily="34" charset="-120"/>
              </a:rPr>
              <a:t>廃業予定企業の45.2%は承継を望んでいないため、後継者を探す支援が届くのは、後継者難を理由に挙げた28.4%の側です。</a:t>
            </a:r>
            <a:endParaRPr lang="en-US" sz="1800" dirty="0"/>
          </a:p>
        </p:txBody>
      </p:sp>
      <p:sp>
        <p:nvSpPr>
          <p:cNvPr id="16" name="調査対象の注記"/>
          <p:cNvSpPr txBox="1"/>
          <p:nvPr/>
        </p:nvSpPr>
        <p:spPr>
          <a:xfrm>
            <a:off x="548640" y="5760720"/>
            <a:ext cx="11091672" cy="365760"/>
          </a:xfrm>
          <a:prstGeom prst="rect">
            <a:avLst/>
          </a:prstGeom>
          <a:noFill/>
          <a:ln/>
        </p:spPr>
        <p:txBody>
          <a:bodyPr wrap="square" lIns="0" tIns="0" rIns="0" bIns="0" rtlCol="0" anchor="ctr"/>
          <a:lstStyle/>
          <a:p>
            <a:pPr algn="l" indent="0" marL="0">
              <a:buNone/>
            </a:pPr>
            <a:r>
              <a:rPr lang="en-US" sz="1200" dirty="0">
                <a:solidFill>
                  <a:schemeClr val="tx1"/>
                </a:solidFill>
                <a:latin typeface="Yu Gothic" pitchFamily="34" charset="0"/>
                <a:ea typeface="Yu Gothic" pitchFamily="34" charset="-122"/>
                <a:cs typeface="Yu Gothic" pitchFamily="34" charset="-120"/>
              </a:rPr>
              <a:t>調査ごとに対象が違います(帝国データバンクは全国全業種約27万社、公庫は従業者299人以下の中小企業)。</a:t>
            </a:r>
            <a:endParaRPr lang="en-US" sz="1200" dirty="0"/>
          </a:p>
        </p:txBody>
      </p:sp>
      <p:sp>
        <p:nvSpPr>
          <p:cNvPr id="25" name="Slide Number Placeholder 0"/>
          <p:cNvSpPr>
            <a:spLocks noGrp="1"/>
          </p:cNvSpPr>
          <p:nvPr>
            <p:ph type="sldNum" sz="quarter" idx="4294967295"/>
          </p:nvPr>
        </p:nvSpPr>
        <p:spPr>
          <a:xfrm>
            <a:off x="548640" y="6263640"/>
            <a:ext cx="548640" cy="274320"/>
          </a:xfrm>
          <a:prstGeom prst="rect">
            <a:avLst/>
          </a:prstGeom>
          <a:extLst>
            <a:ext uri="{C572A759-6A51-4108-AA02-DFA0A04FC94B}">
              <ma14:wrappingTextBoxFlag xmlns:ma14="http://schemas.microsoft.com/office/mac/drawingml/2011/main" val="0"/>
            </a:ext>
          </a:extLst>
        </p:spPr>
        <p:txBody>
          <a:bodyPr/>
          <a:lstStyle>
            <a:lvl1pPr>
              <a:defRPr sz="1200">
                <a:solidFill>
                  <a:schemeClr val="tx1"/>
                </a:solidFill>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1672" cy="1188720"/>
          </a:xfrm>
          <a:prstGeom prst="rect">
            <a:avLst/>
          </a:prstGeom>
          <a:noFill/>
          <a:ln/>
        </p:spPr>
        <p:txBody>
          <a:bodyPr wrap="square" lIns="0" tIns="0" rIns="0" bIns="0" rtlCol="0" anchor="t"/>
          <a:lstStyle/>
          <a:p>
            <a:pPr algn="l" indent="0" marL="0">
              <a:buNone/>
            </a:pPr>
            <a:r>
              <a:rPr lang="en-US" sz="2800" b="1" dirty="0">
                <a:solidFill>
                  <a:schemeClr val="tx1"/>
                </a:solidFill>
                <a:latin typeface="Yu Gothic" pitchFamily="34" charset="0"/>
                <a:ea typeface="Yu Gothic" pitchFamily="34" charset="-122"/>
                <a:cs typeface="Yu Gothic" pitchFamily="34" charset="-120"/>
              </a:rPr>
              <a:t>出典は、出所のページとの照合で「一致」と判定された10件である</a:t>
            </a:r>
            <a:endParaRPr lang="en-US" sz="2800" dirty="0"/>
          </a:p>
        </p:txBody>
      </p:sp>
      <p:sp>
        <p:nvSpPr>
          <p:cNvPr id="3" name="Text 0"/>
          <p:cNvSpPr/>
          <p:nvPr>
            <p:ph idx="101" type="body" hasCustomPrompt="1"/>
          </p:nvPr>
        </p:nvSpPr>
        <p:spPr>
          <a:xfrm>
            <a:off x="1280160" y="6217920"/>
            <a:ext cx="10360152" cy="365760"/>
          </a:xfrm>
          <a:prstGeom prst="rect">
            <a:avLst/>
          </a:prstGeom>
          <a:noFill/>
          <a:ln/>
        </p:spPr>
        <p:txBody>
          <a:bodyPr wrap="square" lIns="0" tIns="0" rIns="0" bIns="0" rtlCol="0" anchor="ctr"/>
          <a:lstStyle/>
          <a:p>
            <a:pPr algn="r" indent="0" marL="0">
              <a:buNone/>
            </a:pPr>
            <a:r>
              <a:rPr lang="en-US" sz="1200" dirty="0">
                <a:solidFill>
                  <a:schemeClr val="tx1"/>
                </a:solidFill>
                <a:latin typeface="Yu Gothic" pitchFamily="34" charset="0"/>
                <a:ea typeface="Yu Gothic" pitchFamily="34" charset="-122"/>
                <a:cs typeface="Yu Gothic" pitchFamily="34" charset="-120"/>
              </a:rPr>
              <a:t> </a:t>
            </a:r>
            <a:endParaRPr lang="en-US" sz="1200" dirty="0"/>
          </a:p>
        </p:txBody>
      </p:sp>
      <p:sp>
        <p:nvSpPr>
          <p:cNvPr id="4" name="出典の一覧"/>
          <p:cNvSpPr txBox="1"/>
          <p:nvPr/>
        </p:nvSpPr>
        <p:spPr>
          <a:xfrm>
            <a:off x="548640" y="1188720"/>
            <a:ext cx="11091672" cy="4983480"/>
          </a:xfrm>
          <a:prstGeom prst="rect">
            <a:avLst/>
          </a:prstGeom>
          <a:noFill/>
          <a:ln/>
        </p:spPr>
        <p:txBody>
          <a:bodyPr wrap="square" lIns="0" tIns="0" rIns="0" bIns="0" rtlCol="0" anchor="t"/>
          <a:lstStyle/>
          <a:p>
            <a:pPr algn="l" indent="0" marL="0">
              <a:lnSpc>
                <a:spcPts val="1900"/>
              </a:lnSpc>
              <a:buNone/>
            </a:pPr>
            <a:r>
              <a:rPr lang="en-US" sz="1600" b="1" dirty="0">
                <a:solidFill>
                  <a:schemeClr val="tx1"/>
                </a:solidFill>
                <a:latin typeface="Yu Gothic" pitchFamily="34" charset="0"/>
                <a:ea typeface="Yu Gothic" pitchFamily="34" charset="-122"/>
                <a:cs typeface="Yu Gothic" pitchFamily="34" charset="-120"/>
              </a:rPr>
              <a:t>1. 帝国データバンク 後継者不在率の調査(2025年) 2025年11月21日</a:t>
            </a:r>
            <a:endParaRPr lang="en-US" sz="1600" dirty="0"/>
          </a:p>
          <a:p>
            <a:pPr algn="l" indent="0" marL="0">
              <a:lnSpc>
                <a:spcPts val="1900"/>
              </a:lnSpc>
              <a:buNone/>
            </a:pPr>
            <a:r>
              <a:rPr lang="en-US" sz="1600" u="sng" dirty="0">
                <a:solidFill>
                  <a:schemeClr val="tx1"/>
                </a:solidFill>
                <a:latin typeface="Yu Gothic" pitchFamily="34" charset="0"/>
                <a:ea typeface="Yu Gothic" pitchFamily="34" charset="-122"/>
                <a:cs typeface="Yu Gothic"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https://prtimes.jp/main/html/rd/p/000001192.000043465.html</a:t>
            </a:r>
            <a:endParaRPr lang="en-US" sz="1600" dirty="0"/>
          </a:p>
          <a:p>
            <a:pPr algn="l" indent="0" marL="0">
              <a:lnSpc>
                <a:spcPts val="1900"/>
              </a:lnSpc>
              <a:buNone/>
            </a:pPr>
            <a:r>
              <a:rPr lang="en-US" sz="1600" b="1" dirty="0">
                <a:solidFill>
                  <a:schemeClr val="tx1"/>
                </a:solidFill>
                <a:latin typeface="Yu Gothic" pitchFamily="34" charset="0"/>
                <a:ea typeface="Yu Gothic" pitchFamily="34" charset="-122"/>
                <a:cs typeface="Yu Gothic" pitchFamily="34" charset="-120"/>
              </a:rPr>
              <a:t>2. 帝国データバンク 同調査の就任経緯(財経新聞掲載) 2025年11月21日</a:t>
            </a:r>
            <a:endParaRPr lang="en-US" sz="1600" dirty="0"/>
          </a:p>
          <a:p>
            <a:pPr algn="l" indent="0" marL="0">
              <a:lnSpc>
                <a:spcPts val="1900"/>
              </a:lnSpc>
              <a:buNone/>
            </a:pPr>
            <a:r>
              <a:rPr lang="en-US" sz="1600" u="sng" dirty="0">
                <a:solidFill>
                  <a:schemeClr val="tx1"/>
                </a:solidFill>
                <a:latin typeface="Yu Gothic" pitchFamily="34" charset="0"/>
                <a:ea typeface="Yu Gothic" pitchFamily="34" charset="-122"/>
                <a:cs typeface="Yu Gothic" pitchFamily="34" charset="-120"/>
                <a:hlinkClick r:id="rId2" invalidUrl="" action="" tgtFrame="" tooltip="" history="1" highlightClick="0" endSnd="0">
                  <a:extLst>
                    <a:ext uri="{A12FA001-AC4F-418D-AE19-62706E023703}">
                      <ahyp:hlinkClr xmlns:ahyp="http://schemas.microsoft.com/office/drawing/2018/hyperlinkcolor" val="tx"/>
                    </a:ext>
                  </a:extLst>
                </a:hlinkClick>
              </a:rPr>
              <a:t>https://www.zaikei.co.jp/releases/3194399/</a:t>
            </a:r>
            <a:endParaRPr lang="en-US" sz="1600" dirty="0"/>
          </a:p>
          <a:p>
            <a:pPr algn="l" indent="0" marL="0">
              <a:lnSpc>
                <a:spcPts val="1900"/>
              </a:lnSpc>
              <a:buNone/>
            </a:pPr>
            <a:r>
              <a:rPr lang="en-US" sz="1600" b="1" dirty="0">
                <a:solidFill>
                  <a:schemeClr val="tx1"/>
                </a:solidFill>
                <a:latin typeface="Yu Gothic" pitchFamily="34" charset="0"/>
                <a:ea typeface="Yu Gothic" pitchFamily="34" charset="-122"/>
                <a:cs typeface="Yu Gothic" pitchFamily="34" charset="-120"/>
              </a:rPr>
              <a:t>3. 帝国データバンク 社長の平均年齢の調査(財経新聞掲載) 2026年2月16日</a:t>
            </a:r>
            <a:endParaRPr lang="en-US" sz="1600" dirty="0"/>
          </a:p>
          <a:p>
            <a:pPr algn="l" indent="0" marL="0">
              <a:lnSpc>
                <a:spcPts val="1900"/>
              </a:lnSpc>
              <a:buNone/>
            </a:pPr>
            <a:r>
              <a:rPr lang="en-US" sz="1600" u="sng" dirty="0">
                <a:solidFill>
                  <a:schemeClr val="tx1"/>
                </a:solidFill>
                <a:latin typeface="Yu Gothic" pitchFamily="34" charset="0"/>
                <a:ea typeface="Yu Gothic" pitchFamily="34" charset="-122"/>
                <a:cs typeface="Yu Gothic" pitchFamily="34" charset="-120"/>
                <a:hlinkClick r:id="rId3" invalidUrl="" action="" tgtFrame="" tooltip="" history="1" highlightClick="0" endSnd="0">
                  <a:extLst>
                    <a:ext uri="{A12FA001-AC4F-418D-AE19-62706E023703}">
                      <ahyp:hlinkClr xmlns:ahyp="http://schemas.microsoft.com/office/drawing/2018/hyperlinkcolor" val="tx"/>
                    </a:ext>
                  </a:extLst>
                </a:hlinkClick>
              </a:rPr>
              <a:t>https://www.zaikei.co.jp/releases/3304434/</a:t>
            </a:r>
            <a:endParaRPr lang="en-US" sz="1600" dirty="0"/>
          </a:p>
          <a:p>
            <a:pPr algn="l" indent="0" marL="0">
              <a:lnSpc>
                <a:spcPts val="1900"/>
              </a:lnSpc>
              <a:buNone/>
            </a:pPr>
            <a:r>
              <a:rPr lang="en-US" sz="1600" b="1" dirty="0">
                <a:solidFill>
                  <a:schemeClr val="tx1"/>
                </a:solidFill>
                <a:latin typeface="Yu Gothic" pitchFamily="34" charset="0"/>
                <a:ea typeface="Yu Gothic" pitchFamily="34" charset="-122"/>
                <a:cs typeface="Yu Gothic" pitchFamily="34" charset="-120"/>
              </a:rPr>
              <a:t>4. 東京商工リサーチ 2025年「休廃業・解散」 2026年1月9日</a:t>
            </a:r>
            <a:endParaRPr lang="en-US" sz="1600" dirty="0"/>
          </a:p>
          <a:p>
            <a:pPr algn="l" indent="0" marL="0">
              <a:lnSpc>
                <a:spcPts val="1900"/>
              </a:lnSpc>
              <a:buNone/>
            </a:pPr>
            <a:r>
              <a:rPr lang="en-US" sz="1600" u="sng" dirty="0">
                <a:solidFill>
                  <a:schemeClr val="tx1"/>
                </a:solidFill>
                <a:latin typeface="Yu Gothic" pitchFamily="34" charset="0"/>
                <a:ea typeface="Yu Gothic" pitchFamily="34" charset="-122"/>
                <a:cs typeface="Yu Gothic" pitchFamily="34" charset="-120"/>
                <a:hlinkClick r:id="rId4" invalidUrl="" action="" tgtFrame="" tooltip="" history="1" highlightClick="0" endSnd="0">
                  <a:extLst>
                    <a:ext uri="{A12FA001-AC4F-418D-AE19-62706E023703}">
                      <ahyp:hlinkClr xmlns:ahyp="http://schemas.microsoft.com/office/drawing/2018/hyperlinkcolor" val="tx"/>
                    </a:ext>
                  </a:extLst>
                </a:hlinkClick>
              </a:rPr>
              <a:t>https://www.tsr-net.co.jp/data/detail/1202284_1527.html</a:t>
            </a:r>
            <a:endParaRPr lang="en-US" sz="1600" dirty="0"/>
          </a:p>
          <a:p>
            <a:pPr algn="l" indent="0" marL="0">
              <a:lnSpc>
                <a:spcPts val="1900"/>
              </a:lnSpc>
              <a:buNone/>
            </a:pPr>
            <a:r>
              <a:rPr lang="en-US" sz="1600" b="1" dirty="0">
                <a:solidFill>
                  <a:schemeClr val="tx1"/>
                </a:solidFill>
                <a:latin typeface="Yu Gothic" pitchFamily="34" charset="0"/>
                <a:ea typeface="Yu Gothic" pitchFamily="34" charset="-122"/>
                <a:cs typeface="Yu Gothic" pitchFamily="34" charset="-120"/>
              </a:rPr>
              <a:t>5. 日本政策金融公庫 総合研究所『調査月報』2023年8月号 2023年8月</a:t>
            </a:r>
            <a:endParaRPr lang="en-US" sz="1600" dirty="0"/>
          </a:p>
          <a:p>
            <a:pPr algn="l" indent="0" marL="0">
              <a:lnSpc>
                <a:spcPts val="1900"/>
              </a:lnSpc>
              <a:buNone/>
            </a:pPr>
            <a:r>
              <a:rPr lang="en-US" sz="1600" u="sng" dirty="0">
                <a:solidFill>
                  <a:schemeClr val="tx1"/>
                </a:solidFill>
                <a:latin typeface="Yu Gothic" pitchFamily="34" charset="0"/>
                <a:ea typeface="Yu Gothic" pitchFamily="34" charset="-122"/>
                <a:cs typeface="Yu Gothic" pitchFamily="34" charset="-120"/>
                <a:hlinkClick r:id="rId5" invalidUrl="" action="" tgtFrame="" tooltip="" history="1" highlightClick="0" endSnd="0">
                  <a:extLst>
                    <a:ext uri="{A12FA001-AC4F-418D-AE19-62706E023703}">
                      <ahyp:hlinkClr xmlns:ahyp="http://schemas.microsoft.com/office/drawing/2018/hyperlinkcolor" val="tx"/>
                    </a:ext>
                  </a:extLst>
                </a:hlinkClick>
              </a:rPr>
              <a:t>https://www.jfc.go.jp/n/findings/pdf/tyousa_gttupou_2308.pdf</a:t>
            </a:r>
            <a:endParaRPr lang="en-US" sz="1600" dirty="0"/>
          </a:p>
          <a:p>
            <a:pPr algn="l" indent="0" marL="0">
              <a:lnSpc>
                <a:spcPts val="1900"/>
              </a:lnSpc>
              <a:buNone/>
            </a:pPr>
            <a:r>
              <a:rPr lang="en-US" sz="1600" b="1" dirty="0">
                <a:solidFill>
                  <a:schemeClr val="tx1"/>
                </a:solidFill>
                <a:latin typeface="Yu Gothic" pitchFamily="34" charset="0"/>
                <a:ea typeface="Yu Gothic" pitchFamily="34" charset="-122"/>
                <a:cs typeface="Yu Gothic" pitchFamily="34" charset="-120"/>
              </a:rPr>
              <a:t>6. 中小企業庁 令和8年度税制改正要望(財務省サイト掲載) 公開日の記載なし</a:t>
            </a:r>
            <a:endParaRPr lang="en-US" sz="1600" dirty="0"/>
          </a:p>
          <a:p>
            <a:pPr algn="l" indent="0" marL="0">
              <a:lnSpc>
                <a:spcPts val="1900"/>
              </a:lnSpc>
              <a:buNone/>
            </a:pPr>
            <a:r>
              <a:rPr lang="en-US" sz="1600" u="sng" dirty="0">
                <a:solidFill>
                  <a:schemeClr val="tx1"/>
                </a:solidFill>
                <a:latin typeface="Yu Gothic" pitchFamily="34" charset="0"/>
                <a:ea typeface="Yu Gothic" pitchFamily="34" charset="-122"/>
                <a:cs typeface="Yu Gothic" pitchFamily="34" charset="-120"/>
                <a:hlinkClick r:id="rId6" invalidUrl="" action="" tgtFrame="" tooltip="" history="1" highlightClick="0" endSnd="0">
                  <a:extLst>
                    <a:ext uri="{A12FA001-AC4F-418D-AE19-62706E023703}">
                      <ahyp:hlinkClr xmlns:ahyp="http://schemas.microsoft.com/office/drawing/2018/hyperlinkcolor" val="tx"/>
                    </a:ext>
                  </a:extLst>
                </a:hlinkClick>
              </a:rPr>
              <a:t>https://www.mof.go.jp/tax_policy/tax_reform/outline/fy2026/request/meti/08y_meti_k_29.pdf</a:t>
            </a:r>
            <a:endParaRPr lang="en-US" sz="1600" dirty="0"/>
          </a:p>
          <a:p>
            <a:pPr algn="l" indent="0" marL="0">
              <a:lnSpc>
                <a:spcPts val="1900"/>
              </a:lnSpc>
              <a:buNone/>
            </a:pPr>
            <a:r>
              <a:rPr lang="en-US" sz="1600" b="1" dirty="0">
                <a:solidFill>
                  <a:schemeClr val="tx1"/>
                </a:solidFill>
                <a:latin typeface="Yu Gothic" pitchFamily="34" charset="0"/>
                <a:ea typeface="Yu Gothic" pitchFamily="34" charset="-122"/>
                <a:cs typeface="Yu Gothic" pitchFamily="34" charset="-120"/>
              </a:rPr>
              <a:t>7. 中小企業基盤整備機構 J-Net21 2025年5月30日</a:t>
            </a:r>
            <a:endParaRPr lang="en-US" sz="1600" dirty="0"/>
          </a:p>
          <a:p>
            <a:pPr algn="l" indent="0" marL="0">
              <a:lnSpc>
                <a:spcPts val="1900"/>
              </a:lnSpc>
              <a:buNone/>
            </a:pPr>
            <a:r>
              <a:rPr lang="en-US" sz="1600" u="sng" dirty="0">
                <a:solidFill>
                  <a:schemeClr val="tx1"/>
                </a:solidFill>
                <a:latin typeface="Yu Gothic" pitchFamily="34" charset="0"/>
                <a:ea typeface="Yu Gothic" pitchFamily="34" charset="-122"/>
                <a:cs typeface="Yu Gothic" pitchFamily="34" charset="-120"/>
                <a:hlinkClick r:id="rId7" invalidUrl="" action="" tgtFrame="" tooltip="" history="1" highlightClick="0" endSnd="0">
                  <a:extLst>
                    <a:ext uri="{A12FA001-AC4F-418D-AE19-62706E023703}">
                      <ahyp:hlinkClr xmlns:ahyp="http://schemas.microsoft.com/office/drawing/2018/hyperlinkcolor" val="tx"/>
                    </a:ext>
                  </a:extLst>
                </a:hlinkClick>
              </a:rPr>
              <a:t>https://j-net21.smrj.go.jp/news/cek71k00000170m3.html</a:t>
            </a:r>
            <a:endParaRPr lang="en-US" sz="1600" dirty="0"/>
          </a:p>
          <a:p>
            <a:pPr algn="l" indent="0" marL="0">
              <a:lnSpc>
                <a:spcPts val="1900"/>
              </a:lnSpc>
              <a:buNone/>
            </a:pPr>
            <a:r>
              <a:rPr lang="en-US" sz="1600" b="1" dirty="0">
                <a:solidFill>
                  <a:schemeClr val="tx1"/>
                </a:solidFill>
                <a:latin typeface="Yu Gothic" pitchFamily="34" charset="0"/>
                <a:ea typeface="Yu Gothic" pitchFamily="34" charset="-122"/>
                <a:cs typeface="Yu Gothic" pitchFamily="34" charset="-120"/>
              </a:rPr>
              <a:t>8. 金融庁「経営者保証に関するガイドライン」等の活用実績 2025年6月</a:t>
            </a:r>
            <a:endParaRPr lang="en-US" sz="1600" dirty="0"/>
          </a:p>
          <a:p>
            <a:pPr algn="l" indent="0" marL="0">
              <a:lnSpc>
                <a:spcPts val="1900"/>
              </a:lnSpc>
              <a:buNone/>
            </a:pPr>
            <a:r>
              <a:rPr lang="en-US" sz="1600" u="sng" dirty="0">
                <a:solidFill>
                  <a:schemeClr val="tx1"/>
                </a:solidFill>
                <a:latin typeface="Yu Gothic" pitchFamily="34" charset="0"/>
                <a:ea typeface="Yu Gothic" pitchFamily="34" charset="-122"/>
                <a:cs typeface="Yu Gothic" pitchFamily="34" charset="-120"/>
                <a:hlinkClick r:id="rId8" invalidUrl="" action="" tgtFrame="" tooltip="" history="1" highlightClick="0" endSnd="0">
                  <a:extLst>
                    <a:ext uri="{A12FA001-AC4F-418D-AE19-62706E023703}">
                      <ahyp:hlinkClr xmlns:ahyp="http://schemas.microsoft.com/office/drawing/2018/hyperlinkcolor" val="tx"/>
                    </a:ext>
                  </a:extLst>
                </a:hlinkClick>
              </a:rPr>
              <a:t>https://www.fsa.go.jp/news/r6/ginkou/20250626-3/2503.pdf</a:t>
            </a:r>
            <a:endParaRPr lang="en-US" sz="1600" dirty="0"/>
          </a:p>
          <a:p>
            <a:pPr algn="l" indent="0" marL="0">
              <a:lnSpc>
                <a:spcPts val="1900"/>
              </a:lnSpc>
              <a:buNone/>
            </a:pPr>
            <a:r>
              <a:rPr lang="en-US" sz="1600" b="1" dirty="0">
                <a:solidFill>
                  <a:schemeClr val="tx1"/>
                </a:solidFill>
                <a:latin typeface="Yu Gothic" pitchFamily="34" charset="0"/>
                <a:ea typeface="Yu Gothic" pitchFamily="34" charset="-122"/>
                <a:cs typeface="Yu Gothic" pitchFamily="34" charset="-120"/>
              </a:rPr>
              <a:t>9. 東京商工リサーチ M&amp;Aに関する調査の記事 2025年10月</a:t>
            </a:r>
            <a:endParaRPr lang="en-US" sz="1600" dirty="0"/>
          </a:p>
          <a:p>
            <a:pPr algn="l" indent="0" marL="0">
              <a:lnSpc>
                <a:spcPts val="1900"/>
              </a:lnSpc>
              <a:buNone/>
            </a:pPr>
            <a:r>
              <a:rPr lang="en-US" sz="1600" u="sng" dirty="0">
                <a:solidFill>
                  <a:schemeClr val="tx1"/>
                </a:solidFill>
                <a:latin typeface="Yu Gothic" pitchFamily="34" charset="0"/>
                <a:ea typeface="Yu Gothic" pitchFamily="34" charset="-122"/>
                <a:cs typeface="Yu Gothic" pitchFamily="34" charset="-120"/>
                <a:hlinkClick r:id="rId9" invalidUrl="" action="" tgtFrame="" tooltip="" history="1" highlightClick="0" endSnd="0">
                  <a:extLst>
                    <a:ext uri="{A12FA001-AC4F-418D-AE19-62706E023703}">
                      <ahyp:hlinkClr xmlns:ahyp="http://schemas.microsoft.com/office/drawing/2018/hyperlinkcolor" val="tx"/>
                    </a:ext>
                  </a:extLst>
                </a:hlinkClick>
              </a:rPr>
              <a:t>https://www.tsr-net.co.jp/data/detail/1201938_1527.html</a:t>
            </a:r>
            <a:endParaRPr lang="en-US" sz="1600" dirty="0"/>
          </a:p>
          <a:p>
            <a:pPr algn="l" indent="0" marL="0">
              <a:lnSpc>
                <a:spcPts val="1900"/>
              </a:lnSpc>
              <a:buNone/>
            </a:pPr>
            <a:r>
              <a:rPr lang="en-US" sz="1600" b="1" dirty="0">
                <a:solidFill>
                  <a:schemeClr val="tx1"/>
                </a:solidFill>
                <a:latin typeface="Yu Gothic" pitchFamily="34" charset="0"/>
                <a:ea typeface="Yu Gothic" pitchFamily="34" charset="-122"/>
                <a:cs typeface="Yu Gothic" pitchFamily="34" charset="-120"/>
              </a:rPr>
              <a:t>10. 経済産業研究所(RIETI)家森信善 コラム 2020年12月24日</a:t>
            </a:r>
            <a:endParaRPr lang="en-US" sz="1600" dirty="0"/>
          </a:p>
          <a:p>
            <a:pPr algn="l" indent="0" marL="0">
              <a:lnSpc>
                <a:spcPts val="1900"/>
              </a:lnSpc>
              <a:buNone/>
            </a:pPr>
            <a:r>
              <a:rPr lang="en-US" sz="1600" u="sng" dirty="0">
                <a:solidFill>
                  <a:schemeClr val="tx1"/>
                </a:solidFill>
                <a:latin typeface="Yu Gothic" pitchFamily="34" charset="0"/>
                <a:ea typeface="Yu Gothic" pitchFamily="34" charset="-122"/>
                <a:cs typeface="Yu Gothic" pitchFamily="34" charset="-120"/>
                <a:hlinkClick r:id="rId10" invalidUrl="" action="" tgtFrame="" tooltip="" history="1" highlightClick="0" endSnd="0">
                  <a:extLst>
                    <a:ext uri="{A12FA001-AC4F-418D-AE19-62706E023703}">
                      <ahyp:hlinkClr xmlns:ahyp="http://schemas.microsoft.com/office/drawing/2018/hyperlinkcolor" val="tx"/>
                    </a:ext>
                  </a:extLst>
                </a:hlinkClick>
              </a:rPr>
              <a:t>https://www.rieti.go.jp/jp/columns/s21_0005.html</a:t>
            </a:r>
            <a:endParaRPr lang="en-US" sz="1600" dirty="0"/>
          </a:p>
        </p:txBody>
      </p:sp>
      <p:sp>
        <p:nvSpPr>
          <p:cNvPr id="25" name="Slide Number Placeholder 0"/>
          <p:cNvSpPr>
            <a:spLocks noGrp="1"/>
          </p:cNvSpPr>
          <p:nvPr>
            <p:ph type="sldNum" sz="quarter" idx="4294967295"/>
          </p:nvPr>
        </p:nvSpPr>
        <p:spPr>
          <a:xfrm>
            <a:off x="548640" y="6263640"/>
            <a:ext cx="548640" cy="274320"/>
          </a:xfrm>
          <a:prstGeom prst="rect">
            <a:avLst/>
          </a:prstGeom>
          <a:extLst>
            <a:ext uri="{C572A759-6A51-4108-AA02-DFA0A04FC94B}">
              <ma14:wrappingTextBoxFlag xmlns:ma14="http://schemas.microsoft.com/office/mac/drawingml/2011/main" val="0"/>
            </a:ext>
          </a:extLst>
        </p:spPr>
        <p:txBody>
          <a:bodyPr/>
          <a:lstStyle>
            <a:lvl1pPr>
              <a:defRPr sz="1200">
                <a:solidFill>
                  <a:schemeClr val="tx1"/>
                </a:solidFill>
              </a:defRPr>
            </a:lvl1pPr>
          </a:lstStyle>
          <a:p>
            <a:pPr algn="l"/>
            <a:fld id="{F7021451-1387-4CA6-816F-3879F97B5CBC}" type="slidenum">
              <a:rPr b="0" lang="en-US"/>
              <a:t>8</a:t>
            </a:fld>
            <a:endParaRPr lang="en-US"/>
          </a:p>
        </p:txBody>
      </p:sp>
    </p:spTree>
  </p:cSld>
  <p:clrMapOvr>
    <a:masterClrMapping/>
  </p:clrMapOvr>
</p:sld>
</file>

<file path=ppt/theme/theme1.xml><?xml version="1.0" encoding="utf-8"?>
<a:theme xmlns:a="http://schemas.openxmlformats.org/drawingml/2006/main" name="事業承継の現状">
  <a:themeElements>
    <a:clrScheme name="事業承継の現状">
      <a:dk1>
        <a:srgbClr val="1B2A4A"/>
      </a:dk1>
      <a:lt1>
        <a:srgbClr val="FFFFFF"/>
      </a:lt1>
      <a:dk2>
        <a:srgbClr val="1B2A4A"/>
      </a:dk2>
      <a:lt2>
        <a:srgbClr val="EEF1F6"/>
      </a:lt2>
      <a:accent1>
        <a:srgbClr val="C8553D"/>
      </a:accent1>
      <a:accent2>
        <a:srgbClr val="1B2A4A"/>
      </a:accent2>
      <a:accent3>
        <a:srgbClr val="8A94A6"/>
      </a:accent3>
      <a:accent4>
        <a:srgbClr val="C8553D"/>
      </a:accent4>
      <a:accent5>
        <a:srgbClr val="1B2A4A"/>
      </a:accent5>
      <a:accent6>
        <a:srgbClr val="8A94A6"/>
      </a:accent6>
      <a:hlink>
        <a:srgbClr val="1B2A4A"/>
      </a:hlink>
      <a:folHlink>
        <a:srgbClr val="1B2A4A"/>
      </a:folHlink>
    </a:clrScheme>
    <a:fontScheme name="事業承継の現状">
      <a:majorFont>
        <a:latin typeface="Yu Gothic"/>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Yu Gothic"/>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日本の中小企業の事業承継の現状</dc:title>
  <dc:subject>PptxGenJS Presentation</dc:subject>
  <dc:creator>PptxGenJS</dc:creator>
  <cp:lastModifiedBy>PptxGenJS</cp:lastModifiedBy>
  <cp:revision>1</cp:revision>
  <dcterms:created xsi:type="dcterms:W3CDTF">2026-10-08T13:36:06Z</dcterms:created>
  <dcterms:modified xsi:type="dcterms:W3CDTF">2026-10-08T13:36:06Z</dcterms:modified>
</cp:coreProperties>
</file>