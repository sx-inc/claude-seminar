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db.co.jp/resource/files/assets/d4b8e8ee91d1489c9a2abd23a4bb5219/a3db12c6a6e24859abce902a821ddf1f/20251121_%E5%85%A8%E5%9B%BD%E4%BC%81%E6%A5%AD%E3%80%8C%E5%BE%8C%E7%B6%99%E8%80%85%E4%B8%8D%E5%9C%A8%E7%8E%87%E3%80%8D%E5%8B%95%E5%90%91%E8%AA%BF%E6%9F%BB%EF%BC%882025%E5%B9%B4%EF%BC%89.pdf" TargetMode="External"/><Relationship Id="rId3" Type="http://schemas.openxmlformats.org/officeDocument/2006/relationships/hyperlink" Target="https://www.tdb.co.jp/report/economic/20260216-presidentage2025/" TargetMode="External"/><Relationship Id="rId4" Type="http://schemas.openxmlformats.org/officeDocument/2006/relationships/hyperlink" Target="https://www.tdb.co.jp/report/bankruptcy/aggregation/20260113-bankruptcy2025/" TargetMode="External"/><Relationship Id="rId5" Type="http://schemas.openxmlformats.org/officeDocument/2006/relationships/hyperlink" Target="https://www.tdb.co.jp/report/industry/20260109-kyuhaigyo25y/" TargetMode="External"/><Relationship Id="rId6" Type="http://schemas.openxmlformats.org/officeDocument/2006/relationships/hyperlink" Target="https://www.smrj.go.jp/press/2026/hkj3i8000000cu5o-att/20260529_press01.pdf" TargetMode="External"/><Relationship Id="rId7" Type="http://schemas.openxmlformats.org/officeDocument/2006/relationships/hyperlink" Target="https://www.fsa.go.jp/news/r7/ginkou/20260626/2603-2.pdf" TargetMode="External"/><Relationship Id="rId8" Type="http://schemas.openxmlformats.org/officeDocument/2006/relationships/hyperlink" Target="https://www.pref.osaka.lg.jp/o110050/keieishien/keieisyoukeienkatuka/tokureisyo.html" TargetMode="External"/><Relationship Id="rId9" Type="http://schemas.openxmlformats.org/officeDocument/2006/relationships/hyperlink" Target="https://archive.jcci.or.jp/20240322jigyosyokei_chosa.pdf" TargetMode="External"/><Relationship Id="rId10" Type="http://schemas.openxmlformats.org/officeDocument/2006/relationships/hyperlink" Target="https://www.jfc.go.jp/n/findings/pdf/sme_findings230323_1.pdf" TargetMode="External"/><Relationship Id="rId11" Type="http://schemas.openxmlformats.org/officeDocument/2006/relationships/hyperlink" Target="https://jsf.smrj.go.jp/forum/pdf/koen_doc01.pdf" TargetMode="External"/><Relationship Id="rId12" Type="http://schemas.openxmlformats.org/officeDocument/2006/relationships/hyperlink" Target="https://www.maa-a.or.jp/pdf/240826-maar-release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日本の中小企業の事業承継の現状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749039"/>
            <a:ext cx="1463040" cy="73152"/>
          </a:xfrm>
          <a:prstGeom prst="rect">
            <a:avLst/>
          </a:prstGeom>
          <a:solidFill>
            <a:srgbClr val="D96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規模と緊急度、承継の形、支援策、障壁と課題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作成日: 2026年10月8日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後継者不在は改善しているが、高齢化と承継の準備不足は残っている。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D96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48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76272"/>
            <a:ext cx="1045433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後継者不在率は50.1%まで7年連続で下がったが、社長の平均年齢は60.8歳と過去最高を更新している。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548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10712"/>
            <a:ext cx="1045433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社長交代では内部昇格(36.1%)が同族承継(32.3%)を上回り、承継先が親族の外へ広がっている。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548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45152"/>
            <a:ext cx="1045433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支援センターの相談と成約は過去最多で、今後の焦点は税制特例の期限(令和9年)とM&amp;Aの質の確保である。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後継者不在率は50.1%まで下がったが、社長の高齢化と後継者難倒産は続いている。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D96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4864" cy="3291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200400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50.1%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後継者不在率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(2025年)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103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76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2025年の後継者不在率は50.1%で7年連続で低下し、中小企業は51.2%、小規模企業は57.3%である。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46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319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社長の平均年齢は60.8歳と35年連続で過去最高を更新し、60歳以上が52.6%を占める。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389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462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2025年の後継者難倒産は503件、休廃業・解散は6万7949件で、休廃業・解散のうち黒字は49.1%だった。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注: 不在率の規模別を除き、全企業が対象の数値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806440"/>
            <a:ext cx="5973775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出所: 帝国データバンク(2025年、2026年)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社長交代では内部昇格が同族承継を上回り、承継先が親族の外へ広がっている。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D96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4864" cy="3291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200400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36.1%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内部昇格による社長交代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(2025年、速報値)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103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76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2025年(速報値)の就任経緯は内部昇格36.1%、同族承継32.3%、M&amp;Aほか20.6%で、内部昇格が同族承継を上回った。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46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319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同族承継は2021年の38.7%から32.3%へ下がり、M&amp;Aほかは18.6%から20.6%へ上がった。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389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462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事業承継・引継ぎ支援センターの第三者承継の成約は、令和3年度の1,514件から令和7年度は2,265件に増えた。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注: 就任経緯は全国・全業種が対象で、中小企業に限った数値ではない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806440"/>
            <a:ext cx="5973775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出所: 帝国データバンク(2025年)、中小企業基盤整備機構(2026年)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支援センターの相談と成約は過去最多で、事業承継税制の特例は令和9年に期限を迎える。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D96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4864" cy="3291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200400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2,265件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第三者承継の成約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(令和7年度、過去最多)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103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76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事業承継・引継ぎ支援センターの令和7年度の新規相談者数は24,030者、第三者承継の成約は2,265件で、ともに過去最多である。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46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319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代表者交代時に新旧両方の経営者から保証を取る二重徴求は、2017年度の36.9%から2025年度は3.0%に下がった。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389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462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事業承継税制の特例措置は、特例承継計画の提出期限が令和9年9月30日で、対象は令和9年12月31日までの贈与と相続である。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806440"/>
            <a:ext cx="5973775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出所: 中小企業基盤整備機構(2026年)、金融庁(2026年)、大阪府(2026年)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承継の壁は株式の移転と後継者教育で、M&amp;Aでは不適切な買い手への対策が進んでいる。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D96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4864" cy="3291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200400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35.7%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「後継者への株式の移転」を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課題に挙げた企業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103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76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事業承継の障害・課題の上位は、後継者への株式の移転35.7%、後継者教育31.1%、従業員との関係構築30.2%である(複数回答)。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46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319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後継者が未定の企業の57.7%は、「売却してまで事業を継続させたいとは思わない」と答えた(2023年調査)。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389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462272"/>
            <a:ext cx="66138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中小M&amp;Aガイドライン第3版が2024年8月から適用され、業界団体は悪質な買い手を共有するリストを2024年10月に始めた。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806440"/>
            <a:ext cx="5973775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出所: 日本商工会議所(2024年)、日本政策金融公庫(2023年)、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中小企業庁(2025年)、M&amp;A支援機関協会(2024年)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課題の中心は、後継者の「不在」から、承継の「準備」と「M&amp;Aの質」へ移っている。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D96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76272"/>
            <a:ext cx="104543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後継者不在率は下がり続けているが、いまも企業の半数(50.1%)は後継者が決まっていない。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19272"/>
            <a:ext cx="104543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承継先が親族の外へ広がるほど、株式の買い取り資金や債務保証の引継ぎへの備えが重くなる。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548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96B0B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62272"/>
            <a:ext cx="104543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移行に3年以上かかるとみる企業が51.9%あり、税制特例の期限(令和9年)を考えると早い着手が要る。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注: 51.9%は2021年の調査。2点目と3点目の後半は、集めた事実からの解釈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5806440"/>
            <a:ext cx="5973775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出所: 帝国データバンク(2025年)、大阪府(2026年)、中小企業庁(2025年)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出典は、出所のURLと照合して記載が一致した11件である。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D96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2"/>
              </a:rPr>
              <a:t>1. 帝国データバンク「全国「後継者不在率」動向調査(2025年)」2025年11月21日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3"/>
              </a:rPr>
              <a:t>2. 帝国データバンク「全国「社長年齢」分析調査(2025年)」2026年2月16日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4"/>
              </a:rPr>
              <a:t>3. 帝国データバンク「倒産集計 2025年報」2026年1月13日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5"/>
              </a:rPr>
              <a:t>4. 帝国データバンク「全国企業「休廃業・解散」動向調査(2025年)」2026年1月9日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6"/>
              </a:rPr>
              <a:t>5. 中小企業基盤整備機構「令和7年度 事業承継・引継ぎ支援センターの実績について」2026年5月29日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7"/>
              </a:rPr>
              <a:t>6. 金融庁「「経営者保証に関するガイドライン」等の活用実績(2025年度)」2026年6月26日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8"/>
              </a:rPr>
              <a:t>7. 大阪府 法人版事業承継税制(特例承継計画)の案内ページ 2026年4月1日更新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9"/>
              </a:rPr>
              <a:t>8. 日本商工会議所「「事業承継に関する実態アンケート」調査結果」2024年3月22日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10"/>
              </a:rPr>
              <a:t>9. 日本政策金融公庫 総合研究所「中小企業の事業承継に関するインターネット調査」2023年3月23日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11"/>
              </a:rPr>
              <a:t>10. 中小企業庁「事業承継・引継ぎの推進に向けて」2025年3月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1B2A4A"/>
                </a:solidFill>
                <a:latin typeface="Yu Gothic"/>
                <a:ea typeface="Yu Gothic"/>
                <a:cs typeface="Yu Gothic"/>
                <a:hlinkClick r:id="rId12"/>
              </a:rPr>
              <a:t>11. M&amp;A支援機関協会(旧 M&amp;A仲介協会)「特定事業者リスト」運用開始の発表 2024年8月26日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