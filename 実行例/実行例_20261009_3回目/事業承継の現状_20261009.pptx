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db.co.jp/report/economic/20251121-successor25y/" TargetMode="External"/><Relationship Id="rId3" Type="http://schemas.openxmlformats.org/officeDocument/2006/relationships/hyperlink" Target="https://www.tdb.co.jp/report/economic/20260216-presidentage2025/" TargetMode="External"/><Relationship Id="rId4" Type="http://schemas.openxmlformats.org/officeDocument/2006/relationships/hyperlink" Target="https://www.tsr-net.co.jp/data/detail/1201982_1527.html" TargetMode="External"/><Relationship Id="rId5" Type="http://schemas.openxmlformats.org/officeDocument/2006/relationships/hyperlink" Target="https://www.smrj.go.jp/press/2026/hkj3i8000000cu5o-att/20260529_press01.pdf" TargetMode="External"/><Relationship Id="rId6" Type="http://schemas.openxmlformats.org/officeDocument/2006/relationships/hyperlink" Target="https://www.tdb.co.jp/report/industry/20260109-kyuhaigyo25y/" TargetMode="External"/><Relationship Id="rId7" Type="http://schemas.openxmlformats.org/officeDocument/2006/relationships/hyperlink" Target="https://www.tsr-net.co.jp/data/detail/1202284_1527.html" TargetMode="External"/><Relationship Id="rId8" Type="http://schemas.openxmlformats.org/officeDocument/2006/relationships/hyperlink" Target="https://www.tdb.co.jp/report/bankruptcy/aggregation/20260113-bankruptcy2025/" TargetMode="External"/><Relationship Id="rId9" Type="http://schemas.openxmlformats.org/officeDocument/2006/relationships/hyperlink" Target="https://www.tdb.co.jp/report/bankruptcy/aggregation/20260408-bankruptfy2025/" TargetMode="External"/><Relationship Id="rId10" Type="http://schemas.openxmlformats.org/officeDocument/2006/relationships/hyperlink" Target="https://www.tsr-net.co.jp/data/detail/1202305_1527.html" TargetMode="External"/><Relationship Id="rId11" Type="http://schemas.openxmlformats.org/officeDocument/2006/relationships/hyperlink" Target="https://www.tsr-net.co.jp/data/detail/1203300_1527.html" TargetMode="External"/><Relationship Id="rId12" Type="http://schemas.openxmlformats.org/officeDocument/2006/relationships/hyperlink" Target="https://www.pref.aichi.jp/soshiki/kinyu/houjin-tokurei.html" TargetMode="External"/><Relationship Id="rId13" Type="http://schemas.openxmlformats.org/officeDocument/2006/relationships/hyperlink" Target="https://www.shugiin.go.jp/internet/itdb_shitsumon_pdf_t.nsf/html/shitsumon/pdfT/b219091.pdf/$File/b219091.pdf" TargetMode="External"/><Relationship Id="rId14" Type="http://schemas.openxmlformats.org/officeDocument/2006/relationships/hyperlink" Target="https://www.fsa.go.jp/news/r7/ginkou/20260626/2603-2.pdf" TargetMode="External"/><Relationship Id="rId15" Type="http://schemas.openxmlformats.org/officeDocument/2006/relationships/hyperlink" Target="https://b.kobe-u.ac.jp/marec/mrr_files/mrreport_2026-01.pdf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43200"/>
            <a:ext cx="1097280" cy="73152"/>
          </a:xfrm>
          <a:prstGeom prst="rect">
            <a:avLst/>
          </a:prstGeom>
          <a:solidFill>
            <a:srgbClr val="D9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01752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日本の中小企業の事業承継の現状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1148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後継者不在、承継の形、休廃業、公的支援を公表資料から整理する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7607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作成日: 2026年10月9日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D9541E"/>
                </a:solidFill>
                <a:latin typeface="Yu Gothic"/>
                <a:ea typeface="Yu Gothic"/>
                <a:cs typeface="Yu Gothic"/>
              </a:rPr>
              <a:t>要約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後継者不在は和らいだが、経営者の高齢化と企業の退出は続いている。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29968"/>
            <a:ext cx="11094415" cy="2743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8229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>
                <a:solidFill>
                  <a:srgbClr val="D9541E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377440"/>
            <a:ext cx="10180015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後継者不在率は帝国データバンクの調査で50.1%まで下がったが、社長の平均年齢は60.8歳で過去最高である。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39312"/>
            <a:ext cx="8229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>
                <a:solidFill>
                  <a:srgbClr val="D9541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639312"/>
            <a:ext cx="10180015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承継の形は同族承継から内部昇格とM&amp;Aへ移り、公的センター経由の第三者承継は令和7年度に2,265件で過去最多となった。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01183"/>
            <a:ext cx="8229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>
                <a:solidFill>
                  <a:srgbClr val="D9541E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901183"/>
            <a:ext cx="10180015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休廃業・解散は2025年も6万7949件と高水準で、事業承継税制の特例措置は令和9年12月31日に適用期限を迎える。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36208"/>
            <a:ext cx="914400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D9541E"/>
                </a:solidFill>
                <a:latin typeface="Yu Gothic"/>
                <a:ea typeface="Yu Gothic"/>
                <a:cs typeface="Yu Gothic"/>
              </a:rPr>
              <a:t>問い 1　規模と緊急度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後継者不在率は50.1%まで下がったが、社長の平均年齢は60.8歳で過去最高である。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29968"/>
            <a:ext cx="11094415" cy="2743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70866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lnSpc>
                <a:spcPct val="120000"/>
              </a:lnSpc>
              <a:spcAft>
                <a:spcPts val="1600"/>
              </a:spcAft>
              <a:buClr>
                <a:srgbClr val="D9541E"/>
              </a:buClr>
              <a:buFont typeface="Arial"/>
              <a:buChar char="■"/>
            </a:pP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帝国データバンクの調査では、2025年の後継者不在率は50.1%で7年連続で低下し、中小企業は51.2%、小規模企業は57.3%だった。</a:t>
            </a:r>
          </a:p>
          <a:p>
            <a:pPr algn="l" marL="292608" indent="-292608">
              <a:lnSpc>
                <a:spcPct val="120000"/>
              </a:lnSpc>
              <a:spcAft>
                <a:spcPts val="1600"/>
              </a:spcAft>
              <a:buClr>
                <a:srgbClr val="D9541E"/>
              </a:buClr>
              <a:buFont typeface="Arial"/>
              <a:buChar char="■"/>
            </a:pP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社長の平均年齢は2025年末時点で60.8歳と1990年以降で最も高く、60歳以上が52.6%を占める。</a:t>
            </a:r>
          </a:p>
          <a:p>
            <a:pPr algn="l" marL="292608" indent="-292608">
              <a:lnSpc>
                <a:spcPct val="120000"/>
              </a:lnSpc>
              <a:spcAft>
                <a:spcPts val="1600"/>
              </a:spcAft>
              <a:buClr>
                <a:srgbClr val="D9541E"/>
              </a:buClr>
              <a:buFont typeface="Arial"/>
              <a:buChar char="■"/>
            </a:pP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東京商工リサーチの調査では後継者不在率は62.60%で、2019年の55.61%から毎年上昇しており、調査によって水準も方向も異なる。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59" y="2377440"/>
            <a:ext cx="27432" cy="35661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2331720"/>
            <a:ext cx="345917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400" b="1">
                <a:solidFill>
                  <a:srgbClr val="D9541E"/>
                </a:solidFill>
                <a:latin typeface="Yu Gothic"/>
                <a:ea typeface="Yu Gothic"/>
                <a:cs typeface="Yu Gothic"/>
              </a:rPr>
              <a:t>50.1%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3246120"/>
            <a:ext cx="34591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後継者不在率(2025年、帝国データバンク)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4160520"/>
            <a:ext cx="345917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400" b="1">
                <a:solidFill>
                  <a:srgbClr val="D9541E"/>
                </a:solidFill>
                <a:latin typeface="Yu Gothic"/>
                <a:ea typeface="Yu Gothic"/>
                <a:cs typeface="Yu Gothic"/>
              </a:rPr>
              <a:t>60.8歳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5074920"/>
            <a:ext cx="34591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社長の平均年齢(2025年末、帝国データバンク)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236208"/>
            <a:ext cx="8899855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/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出所: 帝国データバンク(2025年、2026年)、東京商工リサーチ(2025年)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36208"/>
            <a:ext cx="914400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D9541E"/>
                </a:solidFill>
                <a:latin typeface="Yu Gothic"/>
                <a:ea typeface="Yu Gothic"/>
                <a:cs typeface="Yu Gothic"/>
              </a:rPr>
              <a:t>問い 2　承継の形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承継の形は、同族承継から内部昇格とM&amp;Aへ移っている。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29968"/>
            <a:ext cx="11094415" cy="2743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70866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lnSpc>
                <a:spcPct val="120000"/>
              </a:lnSpc>
              <a:spcAft>
                <a:spcPts val="1600"/>
              </a:spcAft>
              <a:buClr>
                <a:srgbClr val="D9541E"/>
              </a:buClr>
              <a:buFont typeface="Arial"/>
              <a:buChar char="■"/>
            </a:pP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帝国データバンクの調査(大企業を含む約27万社)では、2025年速報値の代表者交代は内部昇格36.1%、同族承継32.3%、M&amp;Aほか20.6%、外部招聘7.6%だった。</a:t>
            </a:r>
          </a:p>
          <a:p>
            <a:pPr algn="l" marL="292608" indent="-292608">
              <a:lnSpc>
                <a:spcPct val="120000"/>
              </a:lnSpc>
              <a:spcAft>
                <a:spcPts val="1600"/>
              </a:spcAft>
              <a:buClr>
                <a:srgbClr val="D9541E"/>
              </a:buClr>
              <a:buFont typeface="Arial"/>
              <a:buChar char="■"/>
            </a:pP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事業承継・引継ぎ支援センターの第三者承継の成約は、令和4年度の1,681件から令和7年度は2,265件に増え、過去最多となった。</a:t>
            </a:r>
          </a:p>
          <a:p>
            <a:pPr algn="l" marL="292608" indent="-292608">
              <a:lnSpc>
                <a:spcPct val="120000"/>
              </a:lnSpc>
              <a:spcAft>
                <a:spcPts val="1600"/>
              </a:spcAft>
              <a:buClr>
                <a:srgbClr val="D9541E"/>
              </a:buClr>
              <a:buFont typeface="Arial"/>
              <a:buChar char="■"/>
            </a:pP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同センターの親族内承継の支援完了も、令和3年度の1,043件から令和7年度は1,903件に増えた。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59" y="2377440"/>
            <a:ext cx="27432" cy="35661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2331720"/>
            <a:ext cx="345917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400" b="1">
                <a:solidFill>
                  <a:srgbClr val="D9541E"/>
                </a:solidFill>
                <a:latin typeface="Yu Gothic"/>
                <a:ea typeface="Yu Gothic"/>
                <a:cs typeface="Yu Gothic"/>
              </a:rPr>
              <a:t>36.1%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3246120"/>
            <a:ext cx="34591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内部昇格による承継(2025年速報値、帝国データバンク)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4160520"/>
            <a:ext cx="345917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400" b="1">
                <a:solidFill>
                  <a:srgbClr val="D9541E"/>
                </a:solidFill>
                <a:latin typeface="Yu Gothic"/>
                <a:ea typeface="Yu Gothic"/>
                <a:cs typeface="Yu Gothic"/>
              </a:rPr>
              <a:t>32.3%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5074920"/>
            <a:ext cx="34591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同族承継(2025年速報値、帝国データバンク)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236208"/>
            <a:ext cx="8899855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/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出所: 帝国データバンク(2025年)、中小企業基盤整備機構(2026年)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36208"/>
            <a:ext cx="914400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D9541E"/>
                </a:solidFill>
                <a:latin typeface="Yu Gothic"/>
                <a:ea typeface="Yu Gothic"/>
                <a:cs typeface="Yu Gothic"/>
              </a:rPr>
              <a:t>問い 3　承継できなかった結果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休廃業・解散は2025年に6万7949件あり、ほぼ半数は直前期が黒字だった。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29968"/>
            <a:ext cx="11094415" cy="2743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70866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lnSpc>
                <a:spcPct val="120000"/>
              </a:lnSpc>
              <a:spcAft>
                <a:spcPts val="1600"/>
              </a:spcAft>
              <a:buClr>
                <a:srgbClr val="D9541E"/>
              </a:buClr>
              <a:buFont typeface="Arial"/>
              <a:buChar char="■"/>
            </a:pP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帝国データバンクの集計では2025年の休廃業・解散は6万7949件(前年比1.6%減)で過去10年で2番目に多く、東京商工リサーチの集計では6万7,210件(前年比7.2%増)で過去最多だった。</a:t>
            </a:r>
          </a:p>
          <a:p>
            <a:pPr algn="l" marL="292608" indent="-292608">
              <a:lnSpc>
                <a:spcPct val="120000"/>
              </a:lnSpc>
              <a:spcAft>
                <a:spcPts val="1600"/>
              </a:spcAft>
              <a:buClr>
                <a:srgbClr val="D9541E"/>
              </a:buClr>
              <a:buFont typeface="Arial"/>
              <a:buChar char="■"/>
            </a:pP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帝国データバンクの集計では、直前期が黒字だった割合は49.1%と2016年以降で初めて50%を下回り、休廃業時の経営者の平均年齢は71.5歳で過去最高だった。</a:t>
            </a:r>
          </a:p>
          <a:p>
            <a:pPr algn="l" marL="292608" indent="-292608">
              <a:lnSpc>
                <a:spcPct val="120000"/>
              </a:lnSpc>
              <a:spcAft>
                <a:spcPts val="1600"/>
              </a:spcAft>
              <a:buClr>
                <a:srgbClr val="D9541E"/>
              </a:buClr>
              <a:buFont typeface="Arial"/>
              <a:buChar char="■"/>
            </a:pP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後継者難倒産は2025年に帝国データバンクで503件、東京商工リサーチで454件あり、東京商工リサーチの2026年度上半期は263件で上半期として過去最多だった。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59" y="2377440"/>
            <a:ext cx="27432" cy="35661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2331720"/>
            <a:ext cx="345917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600" b="1">
                <a:solidFill>
                  <a:srgbClr val="D9541E"/>
                </a:solidFill>
                <a:latin typeface="Yu Gothic"/>
                <a:ea typeface="Yu Gothic"/>
                <a:cs typeface="Yu Gothic"/>
              </a:rPr>
              <a:t>6万7949件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3246120"/>
            <a:ext cx="34591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休廃業・解散(2025年、帝国データバンク)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4160520"/>
            <a:ext cx="345917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400" b="1">
                <a:solidFill>
                  <a:srgbClr val="D9541E"/>
                </a:solidFill>
                <a:latin typeface="Yu Gothic"/>
                <a:ea typeface="Yu Gothic"/>
                <a:cs typeface="Yu Gothic"/>
              </a:rPr>
              <a:t>49.1%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5074920"/>
            <a:ext cx="34591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直前期が黒字だった割合(2025年、帝国データバンク)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236208"/>
            <a:ext cx="8899855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/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出所: 帝国データバンク(2026年)、東京商工リサーチ(2026年)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36208"/>
            <a:ext cx="914400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D9541E"/>
                </a:solidFill>
                <a:latin typeface="Yu Gothic"/>
                <a:ea typeface="Yu Gothic"/>
                <a:cs typeface="Yu Gothic"/>
              </a:rPr>
              <a:t>問い 4　支援策と利用状況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公的支援の利用は増えているが、税制特例の期限と不適切な買い手への備えが課題である。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29968"/>
            <a:ext cx="11094415" cy="2743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70866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lnSpc>
                <a:spcPct val="120000"/>
              </a:lnSpc>
              <a:spcAft>
                <a:spcPts val="1600"/>
              </a:spcAft>
              <a:buClr>
                <a:srgbClr val="D9541E"/>
              </a:buClr>
              <a:buFont typeface="Arial"/>
              <a:buChar char="■"/>
            </a:pP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事業承継・引継ぎ支援センターの新規相談者数は令和7年度に24,030者で過去最多となり、経営者保証に依存しない融資の割合は2025年度に55.7%まで上がった。</a:t>
            </a:r>
          </a:p>
          <a:p>
            <a:pPr algn="l" marL="292608" indent="-292608">
              <a:lnSpc>
                <a:spcPct val="120000"/>
              </a:lnSpc>
              <a:spcAft>
                <a:spcPts val="1600"/>
              </a:spcAft>
              <a:buClr>
                <a:srgbClr val="D9541E"/>
              </a:buClr>
              <a:buFont typeface="Arial"/>
              <a:buChar char="■"/>
            </a:pP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事業承継税制の特例措置は令和9年12月31日までの贈与・相続が対象で、認定は年平均約千件あり、政府は期限後の方針への回答を差し控えている(令和7年12月時点)。</a:t>
            </a:r>
          </a:p>
          <a:p>
            <a:pPr algn="l" marL="292608" indent="-292608">
              <a:lnSpc>
                <a:spcPct val="120000"/>
              </a:lnSpc>
              <a:spcAft>
                <a:spcPts val="1600"/>
              </a:spcAft>
              <a:buClr>
                <a:srgbClr val="D9541E"/>
              </a:buClr>
              <a:buFont typeface="Arial"/>
              <a:buChar char="■"/>
            </a:pP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登録M&amp;A支援機関3,395社のうち、不適切な買い手の情報を共有する仕組みに加盟しているのは110社(約3.2%)にとどまる(2026年5月19日時点)。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59" y="2377440"/>
            <a:ext cx="27432" cy="35661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2331720"/>
            <a:ext cx="345917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600" b="1">
                <a:solidFill>
                  <a:srgbClr val="D9541E"/>
                </a:solidFill>
                <a:latin typeface="Yu Gothic"/>
                <a:ea typeface="Yu Gothic"/>
                <a:cs typeface="Yu Gothic"/>
              </a:rPr>
              <a:t>24,030者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3246120"/>
            <a:ext cx="34591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センターの新規相談者数(令和7年度、中小企業基盤整備機構)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4160520"/>
            <a:ext cx="345917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400" b="1">
                <a:solidFill>
                  <a:srgbClr val="D9541E"/>
                </a:solidFill>
                <a:latin typeface="Yu Gothic"/>
                <a:ea typeface="Yu Gothic"/>
                <a:cs typeface="Yu Gothic"/>
              </a:rPr>
              <a:t>約3.2%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5074920"/>
            <a:ext cx="34591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情報共有の仕組みへの加盟率(2026年5月、神戸大学MAREC)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236208"/>
            <a:ext cx="8899855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/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出所: 中小企業基盤整備機構(2026年)、金融庁(2026年)、愛知県(2026年)、内閣答弁書(2025年)、神戸大学MAREC(2026年)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36208"/>
            <a:ext cx="914400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D9541E"/>
                </a:solidFill>
                <a:latin typeface="Yu Gothic"/>
                <a:ea typeface="Yu Gothic"/>
                <a:cs typeface="Yu Gothic"/>
              </a:rPr>
              <a:t>調査から言えること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課題は「後継者がいるか」から「間に合うか、安全に引き継げるか」へ移っている。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29968"/>
            <a:ext cx="11094415" cy="2743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1094415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lnSpc>
                <a:spcPct val="120000"/>
              </a:lnSpc>
              <a:spcAft>
                <a:spcPts val="1600"/>
              </a:spcAft>
              <a:buClr>
                <a:srgbClr val="D9541E"/>
              </a:buClr>
              <a:buFont typeface="Arial"/>
              <a:buChar char="■"/>
            </a:pP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後継者不在率が下がっても経営者の高齢化は進んでおり、後継者難倒産の45.2%は経営者の病気・死亡によるものなので、承継は早く着手するほど安全である。</a:t>
            </a:r>
          </a:p>
          <a:p>
            <a:pPr algn="l" marL="292608" indent="-292608">
              <a:lnSpc>
                <a:spcPct val="120000"/>
              </a:lnSpc>
              <a:spcAft>
                <a:spcPts val="1600"/>
              </a:spcAft>
              <a:buClr>
                <a:srgbClr val="D9541E"/>
              </a:buClr>
              <a:buFont typeface="Arial"/>
              <a:buChar char="■"/>
            </a:pP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親族以外への承継が増えたのに対し、不適切な買い手を見分ける仕組みへの加盟は110社にとどまり、相手を見極める手段の普及が追いついていない。</a:t>
            </a:r>
          </a:p>
          <a:p>
            <a:pPr algn="l" marL="292608" indent="-292608">
              <a:lnSpc>
                <a:spcPct val="120000"/>
              </a:lnSpc>
              <a:spcAft>
                <a:spcPts val="1600"/>
              </a:spcAft>
              <a:buClr>
                <a:srgbClr val="D9541E"/>
              </a:buClr>
              <a:buFont typeface="Arial"/>
              <a:buChar char="■"/>
            </a:pP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親族内承継で税制特例を使うなら、特例承継計画の提出期限である令和9年9月30日から逆算して準備を始める必要がある。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236208"/>
            <a:ext cx="8899855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/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出所: 帝国データバンク(2026年)、神戸大学MAREC(2026年)、愛知県(2026年)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36208"/>
            <a:ext cx="914400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D9541E"/>
                </a:solidFill>
                <a:latin typeface="Yu Gothic"/>
                <a:ea typeface="Yu Gothic"/>
                <a:cs typeface="Yu Gothic"/>
              </a:rPr>
              <a:t>出典の一覧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確認で出所の記載と一致した14件の公表資料を使った。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743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5318607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u="none">
                <a:solidFill>
                  <a:srgbClr val="14213D"/>
                </a:solidFill>
                <a:latin typeface="Yu Gothic"/>
                <a:hlinkClick r:id="rId2"/>
                <a:ea typeface="Yu Gothic"/>
                <a:cs typeface="Yu Gothic"/>
              </a:rPr>
              <a:t>1. 帝国データバンク「全国『後継者不在率』動向調査(2025年)」2025/11/21</a:t>
            </a:r>
          </a:p>
          <a:p>
            <a:pPr algn="l">
              <a:spcAft>
                <a:spcPts val="500"/>
              </a:spcAft>
            </a:pPr>
            <a:r>
              <a:rPr sz="1600" b="0" u="none">
                <a:solidFill>
                  <a:srgbClr val="14213D"/>
                </a:solidFill>
                <a:latin typeface="Yu Gothic"/>
                <a:hlinkClick r:id="rId3"/>
                <a:ea typeface="Yu Gothic"/>
                <a:cs typeface="Yu Gothic"/>
              </a:rPr>
              <a:t>2. 帝国データバンク「全国『社長年齢』分析調査(2025年)」2026/2/16</a:t>
            </a:r>
          </a:p>
          <a:p>
            <a:pPr algn="l">
              <a:spcAft>
                <a:spcPts val="500"/>
              </a:spcAft>
            </a:pPr>
            <a:r>
              <a:rPr sz="1600" b="0" u="none">
                <a:solidFill>
                  <a:srgbClr val="14213D"/>
                </a:solidFill>
                <a:latin typeface="Yu Gothic"/>
                <a:hlinkClick r:id="rId4"/>
                <a:ea typeface="Yu Gothic"/>
                <a:cs typeface="Yu Gothic"/>
              </a:rPr>
              <a:t>3. 東京商工リサーチ「『後継者不在』年々上昇し62.60%に」2025/11/10</a:t>
            </a:r>
          </a:p>
          <a:p>
            <a:pPr algn="l">
              <a:spcAft>
                <a:spcPts val="500"/>
              </a:spcAft>
            </a:pPr>
            <a:r>
              <a:rPr sz="1600" b="0" u="none">
                <a:solidFill>
                  <a:srgbClr val="14213D"/>
                </a:solidFill>
                <a:latin typeface="Yu Gothic"/>
                <a:hlinkClick r:id="rId5"/>
                <a:ea typeface="Yu Gothic"/>
                <a:cs typeface="Yu Gothic"/>
              </a:rPr>
              <a:t>4. 中小企業基盤整備機構「令和7年度 事業承継・引継ぎ支援センターの実績について」2026/5/29</a:t>
            </a:r>
          </a:p>
          <a:p>
            <a:pPr algn="l">
              <a:spcAft>
                <a:spcPts val="500"/>
              </a:spcAft>
            </a:pPr>
            <a:r>
              <a:rPr sz="1600" b="0" u="none">
                <a:solidFill>
                  <a:srgbClr val="14213D"/>
                </a:solidFill>
                <a:latin typeface="Yu Gothic"/>
                <a:hlinkClick r:id="rId6"/>
                <a:ea typeface="Yu Gothic"/>
                <a:cs typeface="Yu Gothic"/>
              </a:rPr>
              <a:t>5. 帝国データバンク「全国企業『休廃業・解散』動向調査(2025年)」2026/1/9</a:t>
            </a:r>
          </a:p>
          <a:p>
            <a:pPr algn="l">
              <a:spcAft>
                <a:spcPts val="500"/>
              </a:spcAft>
            </a:pPr>
            <a:r>
              <a:rPr sz="1600" b="0" u="none">
                <a:solidFill>
                  <a:srgbClr val="14213D"/>
                </a:solidFill>
                <a:latin typeface="Yu Gothic"/>
                <a:hlinkClick r:id="rId7"/>
                <a:ea typeface="Yu Gothic"/>
                <a:cs typeface="Yu Gothic"/>
              </a:rPr>
              <a:t>6. 東京商工リサーチ「過去最多の6.72万件、赤字企業率は47.2%」2026/1/9</a:t>
            </a:r>
          </a:p>
          <a:p>
            <a:pPr algn="l">
              <a:spcAft>
                <a:spcPts val="500"/>
              </a:spcAft>
            </a:pPr>
            <a:r>
              <a:rPr sz="1600" b="0" u="none">
                <a:solidFill>
                  <a:srgbClr val="14213D"/>
                </a:solidFill>
                <a:latin typeface="Yu Gothic"/>
                <a:hlinkClick r:id="rId8"/>
                <a:ea typeface="Yu Gothic"/>
                <a:cs typeface="Yu Gothic"/>
              </a:rPr>
              <a:t>7. 帝国データバンク「倒産集計 2025年報」2026/1/13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318607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u="none">
                <a:solidFill>
                  <a:srgbClr val="14213D"/>
                </a:solidFill>
                <a:latin typeface="Yu Gothic"/>
                <a:hlinkClick r:id="rId9"/>
                <a:ea typeface="Yu Gothic"/>
                <a:cs typeface="Yu Gothic"/>
              </a:rPr>
              <a:t>8. 帝国データバンク「倒産集計 2025年度報」2026/4/8</a:t>
            </a:r>
          </a:p>
          <a:p>
            <a:pPr algn="l">
              <a:spcAft>
                <a:spcPts val="500"/>
              </a:spcAft>
            </a:pPr>
            <a:r>
              <a:rPr sz="1600" b="0" u="none">
                <a:solidFill>
                  <a:srgbClr val="14213D"/>
                </a:solidFill>
                <a:latin typeface="Yu Gothic"/>
                <a:hlinkClick r:id="rId10"/>
                <a:ea typeface="Yu Gothic"/>
                <a:cs typeface="Yu Gothic"/>
              </a:rPr>
              <a:t>9. 東京商工リサーチ「2025年『後継者難』倒産 過去2番目の454件」2026/1/14</a:t>
            </a:r>
          </a:p>
          <a:p>
            <a:pPr algn="l">
              <a:spcAft>
                <a:spcPts val="500"/>
              </a:spcAft>
            </a:pPr>
            <a:r>
              <a:rPr sz="1600" b="0" u="none">
                <a:solidFill>
                  <a:srgbClr val="14213D"/>
                </a:solidFill>
                <a:latin typeface="Yu Gothic"/>
                <a:hlinkClick r:id="rId11"/>
                <a:ea typeface="Yu Gothic"/>
                <a:cs typeface="Yu Gothic"/>
              </a:rPr>
              <a:t>10. 東京商工リサーチ「後継者難」倒産(2026年度上半期)2026/10/6</a:t>
            </a:r>
          </a:p>
          <a:p>
            <a:pPr algn="l">
              <a:spcAft>
                <a:spcPts val="500"/>
              </a:spcAft>
            </a:pPr>
            <a:r>
              <a:rPr sz="1600" b="0" u="none">
                <a:solidFill>
                  <a:srgbClr val="14213D"/>
                </a:solidFill>
                <a:latin typeface="Yu Gothic"/>
                <a:hlinkClick r:id="rId12"/>
                <a:ea typeface="Yu Gothic"/>
                <a:cs typeface="Yu Gothic"/>
              </a:rPr>
              <a:t>11. 愛知県「法人版事業承継税制(特例措置)」2026/10/2 更新</a:t>
            </a:r>
          </a:p>
          <a:p>
            <a:pPr algn="l">
              <a:spcAft>
                <a:spcPts val="500"/>
              </a:spcAft>
            </a:pPr>
            <a:r>
              <a:rPr sz="1600" b="0" u="none">
                <a:solidFill>
                  <a:srgbClr val="14213D"/>
                </a:solidFill>
                <a:latin typeface="Yu Gothic"/>
                <a:hlinkClick r:id="rId13"/>
                <a:ea typeface="Yu Gothic"/>
                <a:cs typeface="Yu Gothic"/>
              </a:rPr>
              <a:t>12. 内閣「法人版事業承継税制の特例措置に関する質問に対する答弁書」2025/12/5</a:t>
            </a:r>
          </a:p>
          <a:p>
            <a:pPr algn="l">
              <a:spcAft>
                <a:spcPts val="500"/>
              </a:spcAft>
            </a:pPr>
            <a:r>
              <a:rPr sz="1600" b="0" u="none">
                <a:solidFill>
                  <a:srgbClr val="14213D"/>
                </a:solidFill>
                <a:latin typeface="Yu Gothic"/>
                <a:hlinkClick r:id="rId14"/>
                <a:ea typeface="Yu Gothic"/>
                <a:cs typeface="Yu Gothic"/>
              </a:rPr>
              <a:t>13. 金融庁「『経営者保証に関するガイドライン』等の活用実績」2026/6/26</a:t>
            </a:r>
          </a:p>
          <a:p>
            <a:pPr algn="l">
              <a:spcAft>
                <a:spcPts val="500"/>
              </a:spcAft>
            </a:pPr>
            <a:r>
              <a:rPr sz="1600" b="0" u="none">
                <a:solidFill>
                  <a:srgbClr val="14213D"/>
                </a:solidFill>
                <a:latin typeface="Yu Gothic"/>
                <a:hlinkClick r:id="rId15"/>
                <a:ea typeface="Yu Gothic"/>
                <a:cs typeface="Yu Gothic"/>
              </a:rPr>
              <a:t>14. 神戸大学 中小M&amp;A研究教育センター「MAREC Research Report No.2026-01」2026/7/3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36208"/>
            <a:ext cx="914400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